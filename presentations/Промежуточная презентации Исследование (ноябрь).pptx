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040000" cx="9000000"/>
  <p:notesSz cx="6858000" cy="9144000"/>
  <p:embeddedFontLst>
    <p:embeddedFont>
      <p:font typeface="Libre Franklin"/>
      <p:regular r:id="rId40"/>
      <p:bold r:id="rId41"/>
      <p:italic r:id="rId42"/>
      <p:boldItalic r:id="rId43"/>
    </p:embeddedFont>
    <p:embeddedFont>
      <p:font typeface="Montserrat"/>
      <p:regular r:id="rId44"/>
      <p:bold r:id="rId45"/>
      <p:italic r:id="rId46"/>
      <p:boldItalic r:id="rId47"/>
    </p:embeddedFont>
    <p:embeddedFont>
      <p:font typeface="Quattrocento Sans"/>
      <p:regular r:id="rId48"/>
      <p:bold r:id="rId49"/>
      <p:italic r:id="rId50"/>
      <p:boldItalic r:id="rId51"/>
    </p:embeddedFont>
    <p:embeddedFont>
      <p:font typeface="Arial Black"/>
      <p:regular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90">
          <p15:clr>
            <a:srgbClr val="747775"/>
          </p15:clr>
        </p15:guide>
        <p15:guide id="2" pos="5380">
          <p15:clr>
            <a:srgbClr val="747775"/>
          </p15:clr>
        </p15:guide>
        <p15:guide id="3" orient="horz" pos="147">
          <p15:clr>
            <a:srgbClr val="747775"/>
          </p15:clr>
        </p15:guide>
        <p15:guide id="4" orient="horz" pos="3028">
          <p15:clr>
            <a:srgbClr val="747775"/>
          </p15:clr>
        </p15:guide>
        <p15:guide id="5" orient="horz" pos="534">
          <p15:clr>
            <a:srgbClr val="747775"/>
          </p15:clr>
        </p15:guide>
        <p15:guide id="6" orient="horz" pos="843">
          <p15:clr>
            <a:srgbClr val="747775"/>
          </p15:clr>
        </p15:guide>
        <p15:guide id="7" orient="horz" pos="1152">
          <p15:clr>
            <a:srgbClr val="747775"/>
          </p15:clr>
        </p15:guide>
      </p15:sldGuideLst>
    </p:ext>
    <p:ext uri="GoogleSlidesCustomDataVersion2">
      <go:slidesCustomData xmlns:go="http://customooxmlschemas.google.com/" r:id="rId53" roundtripDataSignature="AMtx7mh0LNkFG0QzX+W/jfiUOjjR7tby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22581A-C3AC-418A-95F8-EC9A11664057}">
  <a:tblStyle styleId="{3F22581A-C3AC-418A-95F8-EC9A116640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0"/>
        <p:guide pos="5380"/>
        <p:guide pos="147" orient="horz"/>
        <p:guide pos="3028" orient="horz"/>
        <p:guide pos="534" orient="horz"/>
        <p:guide pos="843" orient="horz"/>
        <p:guide pos="115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regular.fntdata"/><Relationship Id="rId42" Type="http://schemas.openxmlformats.org/officeDocument/2006/relationships/font" Target="fonts/LibreFranklin-italic.fntdata"/><Relationship Id="rId41" Type="http://schemas.openxmlformats.org/officeDocument/2006/relationships/font" Target="fonts/LibreFranklin-bold.fntdata"/><Relationship Id="rId44" Type="http://schemas.openxmlformats.org/officeDocument/2006/relationships/font" Target="fonts/Montserrat-regular.fntdata"/><Relationship Id="rId43" Type="http://schemas.openxmlformats.org/officeDocument/2006/relationships/font" Target="fonts/LibreFranklin-boldItalic.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QuattrocentoSans-regular.fntdata"/><Relationship Id="rId47" Type="http://schemas.openxmlformats.org/officeDocument/2006/relationships/font" Target="fonts/Montserrat-boldItalic.fntdata"/><Relationship Id="rId49" Type="http://schemas.openxmlformats.org/officeDocument/2006/relationships/font" Target="fonts/Quattrocento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QuattrocentoSans-boldItalic.fntdata"/><Relationship Id="rId50" Type="http://schemas.openxmlformats.org/officeDocument/2006/relationships/font" Target="fonts/QuattrocentoSans-italic.fntdata"/><Relationship Id="rId53" Type="http://customschemas.google.com/relationships/presentationmetadata" Target="metadata"/><Relationship Id="rId52" Type="http://schemas.openxmlformats.org/officeDocument/2006/relationships/font" Target="fonts/ArialBlack-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fe4f8a42b_0_5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6fe4f8a42b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fe4f8a42b_0_6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6fe4f8a42b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fe4f8a42b_0_7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6fe4f8a42b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body">
  <p:cSld name="3_Title and body">
    <p:spTree>
      <p:nvGrpSpPr>
        <p:cNvPr id="9" name="Shape 9"/>
        <p:cNvGrpSpPr/>
        <p:nvPr/>
      </p:nvGrpSpPr>
      <p:grpSpPr>
        <a:xfrm>
          <a:off x="0" y="0"/>
          <a:ext cx="0" cy="0"/>
          <a:chOff x="0" y="0"/>
          <a:chExt cx="0" cy="0"/>
        </a:xfrm>
      </p:grpSpPr>
      <p:sp>
        <p:nvSpPr>
          <p:cNvPr id="10" name="Google Shape;10;p35"/>
          <p:cNvSpPr txBox="1"/>
          <p:nvPr>
            <p:ph type="title"/>
          </p:nvPr>
        </p:nvSpPr>
        <p:spPr>
          <a:xfrm>
            <a:off x="320992" y="205833"/>
            <a:ext cx="8400000" cy="1084800"/>
          </a:xfrm>
          <a:prstGeom prst="rect">
            <a:avLst/>
          </a:prstGeom>
          <a:noFill/>
          <a:ln>
            <a:noFill/>
          </a:ln>
        </p:spPr>
        <p:txBody>
          <a:bodyPr anchorCtr="0" anchor="t" bIns="33375" lIns="33375" spcFirstLastPara="1" rIns="33375" wrap="square" tIns="33375">
            <a:noAutofit/>
          </a:bodyPr>
          <a:lstStyle>
            <a:lvl1pPr lvl="0" marR="0" algn="l">
              <a:lnSpc>
                <a:spcPct val="100000"/>
              </a:lnSpc>
              <a:spcBef>
                <a:spcPts val="0"/>
              </a:spcBef>
              <a:spcAft>
                <a:spcPts val="0"/>
              </a:spcAft>
              <a:buClr>
                <a:schemeClr val="dk1"/>
              </a:buClr>
              <a:buSzPts val="3100"/>
              <a:buFont typeface="Arial Black"/>
              <a:buNone/>
              <a:defRPr b="1" i="0" sz="3100" u="none" cap="none" strike="noStrike">
                <a:solidFill>
                  <a:srgbClr val="0072BC"/>
                </a:solidFill>
                <a:latin typeface="Arial Black"/>
                <a:ea typeface="Arial Black"/>
                <a:cs typeface="Arial Black"/>
                <a:sym typeface="Arial Black"/>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1" name="Google Shape;11;p35"/>
          <p:cNvSpPr txBox="1"/>
          <p:nvPr>
            <p:ph idx="1" type="body"/>
          </p:nvPr>
        </p:nvSpPr>
        <p:spPr>
          <a:xfrm>
            <a:off x="338765" y="1435000"/>
            <a:ext cx="3925500" cy="3008400"/>
          </a:xfrm>
          <a:prstGeom prst="rect">
            <a:avLst/>
          </a:prstGeom>
          <a:noFill/>
          <a:ln>
            <a:noFill/>
          </a:ln>
        </p:spPr>
        <p:txBody>
          <a:bodyPr anchorCtr="0" anchor="t" bIns="33375" lIns="33375" spcFirstLastPara="1" rIns="33375" wrap="square" tIns="33375">
            <a:noAutofit/>
          </a:bodyPr>
          <a:lstStyle>
            <a:lvl1pPr indent="-228600" lvl="0" marL="457200" algn="l">
              <a:lnSpc>
                <a:spcPct val="100000"/>
              </a:lnSpc>
              <a:spcBef>
                <a:spcPts val="0"/>
              </a:spcBef>
              <a:spcAft>
                <a:spcPts val="0"/>
              </a:spcAft>
              <a:buSzPts val="1200"/>
              <a:buFont typeface="Libre Franklin"/>
              <a:buNone/>
              <a:defRPr b="0" i="0" sz="1200" u="none" cap="none" strike="noStrike">
                <a:solidFill>
                  <a:schemeClr val="dk2"/>
                </a:solidFill>
                <a:latin typeface="Libre Franklin"/>
                <a:ea typeface="Libre Franklin"/>
                <a:cs typeface="Libre Franklin"/>
                <a:sym typeface="Libre Franklin"/>
              </a:defRPr>
            </a:lvl1pPr>
            <a:lvl2pPr indent="-228600" lvl="1" marL="914400" algn="l">
              <a:lnSpc>
                <a:spcPct val="115000"/>
              </a:lnSpc>
              <a:spcBef>
                <a:spcPts val="600"/>
              </a:spcBef>
              <a:spcAft>
                <a:spcPts val="0"/>
              </a:spcAft>
              <a:buSzPts val="1400"/>
              <a:buFont typeface="Arial"/>
              <a:buNone/>
              <a:defRPr/>
            </a:lvl2pPr>
            <a:lvl3pPr indent="-228600" lvl="2" marL="1371600" algn="l">
              <a:lnSpc>
                <a:spcPct val="115000"/>
              </a:lnSpc>
              <a:spcBef>
                <a:spcPts val="600"/>
              </a:spcBef>
              <a:spcAft>
                <a:spcPts val="0"/>
              </a:spcAft>
              <a:buSzPts val="1400"/>
              <a:buFont typeface="Arial"/>
              <a:buNone/>
              <a:defRPr/>
            </a:lvl3pPr>
            <a:lvl4pPr indent="-228600" lvl="3" marL="1828800" algn="l">
              <a:lnSpc>
                <a:spcPct val="115000"/>
              </a:lnSpc>
              <a:spcBef>
                <a:spcPts val="600"/>
              </a:spcBef>
              <a:spcAft>
                <a:spcPts val="0"/>
              </a:spcAft>
              <a:buSzPts val="1400"/>
              <a:buFont typeface="Arial"/>
              <a:buNone/>
              <a:defRPr/>
            </a:lvl4pPr>
            <a:lvl5pPr indent="-228600" lvl="4" marL="2286000" algn="l">
              <a:lnSpc>
                <a:spcPct val="115000"/>
              </a:lnSpc>
              <a:spcBef>
                <a:spcPts val="600"/>
              </a:spcBef>
              <a:spcAft>
                <a:spcPts val="0"/>
              </a:spcAft>
              <a:buSzPts val="1400"/>
              <a:buFont typeface="Arial"/>
              <a:buNone/>
              <a:defRPr/>
            </a:lvl5pPr>
            <a:lvl6pPr indent="-228600" lvl="5" marL="2743200" algn="l">
              <a:lnSpc>
                <a:spcPct val="115000"/>
              </a:lnSpc>
              <a:spcBef>
                <a:spcPts val="600"/>
              </a:spcBef>
              <a:spcAft>
                <a:spcPts val="0"/>
              </a:spcAft>
              <a:buSzPts val="1400"/>
              <a:buFont typeface="Arial"/>
              <a:buNone/>
              <a:defRPr/>
            </a:lvl6pPr>
            <a:lvl7pPr indent="-228600" lvl="6" marL="3200400" algn="l">
              <a:lnSpc>
                <a:spcPct val="115000"/>
              </a:lnSpc>
              <a:spcBef>
                <a:spcPts val="600"/>
              </a:spcBef>
              <a:spcAft>
                <a:spcPts val="0"/>
              </a:spcAft>
              <a:buSzPts val="1400"/>
              <a:buFont typeface="Arial"/>
              <a:buNone/>
              <a:defRPr/>
            </a:lvl7pPr>
            <a:lvl8pPr indent="-228600" lvl="7" marL="3657600" algn="l">
              <a:lnSpc>
                <a:spcPct val="115000"/>
              </a:lnSpc>
              <a:spcBef>
                <a:spcPts val="600"/>
              </a:spcBef>
              <a:spcAft>
                <a:spcPts val="0"/>
              </a:spcAft>
              <a:buSzPts val="1400"/>
              <a:buFont typeface="Arial"/>
              <a:buNone/>
              <a:defRPr/>
            </a:lvl8pPr>
            <a:lvl9pPr indent="-228600" lvl="8" marL="4114800" algn="l">
              <a:lnSpc>
                <a:spcPct val="115000"/>
              </a:lnSpc>
              <a:spcBef>
                <a:spcPts val="600"/>
              </a:spcBef>
              <a:spcAft>
                <a:spcPts val="600"/>
              </a:spcAft>
              <a:buSzPts val="1400"/>
              <a:buFont typeface="Arial"/>
              <a:buNone/>
              <a:defRPr/>
            </a:lvl9pPr>
          </a:lstStyle>
          <a:p/>
        </p:txBody>
      </p:sp>
      <p:sp>
        <p:nvSpPr>
          <p:cNvPr id="12" name="Google Shape;12;p35"/>
          <p:cNvSpPr txBox="1"/>
          <p:nvPr>
            <p:ph idx="12" type="sldNum"/>
          </p:nvPr>
        </p:nvSpPr>
        <p:spPr>
          <a:xfrm>
            <a:off x="8339034" y="4569381"/>
            <a:ext cx="540000" cy="385800"/>
          </a:xfrm>
          <a:prstGeom prst="rect">
            <a:avLst/>
          </a:prstGeom>
          <a:noFill/>
          <a:ln>
            <a:noFill/>
          </a:ln>
        </p:spPr>
        <p:txBody>
          <a:bodyPr anchorCtr="0" anchor="ctr" bIns="33375" lIns="33375" spcFirstLastPara="1" rIns="33375" wrap="square" tIns="33375">
            <a:noAutofit/>
          </a:bodyPr>
          <a:lstStyle>
            <a:lvl1pPr indent="0" lvl="0"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extLst>
    <p:ext uri="{DCECCB84-F9BA-43D5-87BE-67443E8EF086}">
      <p15:sldGuideLst>
        <p15:guide id="1" orient="horz" pos="1587">
          <p15:clr>
            <a:srgbClr val="FBAE40"/>
          </p15:clr>
        </p15:guide>
        <p15:guide id="2" pos="28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36"/>
          <p:cNvSpPr txBox="1"/>
          <p:nvPr>
            <p:ph type="ctrTitle"/>
          </p:nvPr>
        </p:nvSpPr>
        <p:spPr>
          <a:xfrm>
            <a:off x="306800" y="729592"/>
            <a:ext cx="8386500" cy="2011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36"/>
          <p:cNvSpPr txBox="1"/>
          <p:nvPr>
            <p:ph idx="1" type="subTitle"/>
          </p:nvPr>
        </p:nvSpPr>
        <p:spPr>
          <a:xfrm>
            <a:off x="306791" y="2777095"/>
            <a:ext cx="8386500" cy="77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36"/>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7"/>
          <p:cNvSpPr txBox="1"/>
          <p:nvPr>
            <p:ph type="title"/>
          </p:nvPr>
        </p:nvSpPr>
        <p:spPr>
          <a:xfrm>
            <a:off x="306791" y="2107570"/>
            <a:ext cx="8386500" cy="82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7"/>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38"/>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8"/>
          <p:cNvSpPr txBox="1"/>
          <p:nvPr>
            <p:ph idx="1" type="body"/>
          </p:nvPr>
        </p:nvSpPr>
        <p:spPr>
          <a:xfrm>
            <a:off x="306791" y="1129284"/>
            <a:ext cx="8386500" cy="33477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38"/>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39"/>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39"/>
          <p:cNvSpPr txBox="1"/>
          <p:nvPr>
            <p:ph idx="1" type="body"/>
          </p:nvPr>
        </p:nvSpPr>
        <p:spPr>
          <a:xfrm>
            <a:off x="306791" y="1129284"/>
            <a:ext cx="3936900" cy="3347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39"/>
          <p:cNvSpPr txBox="1"/>
          <p:nvPr>
            <p:ph idx="2" type="body"/>
          </p:nvPr>
        </p:nvSpPr>
        <p:spPr>
          <a:xfrm>
            <a:off x="4756299" y="1129284"/>
            <a:ext cx="3936900" cy="3347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39"/>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0"/>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0"/>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1"/>
          <p:cNvSpPr txBox="1"/>
          <p:nvPr>
            <p:ph type="title"/>
          </p:nvPr>
        </p:nvSpPr>
        <p:spPr>
          <a:xfrm>
            <a:off x="306791" y="544420"/>
            <a:ext cx="2763900" cy="740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1"/>
          <p:cNvSpPr txBox="1"/>
          <p:nvPr>
            <p:ph idx="1" type="body"/>
          </p:nvPr>
        </p:nvSpPr>
        <p:spPr>
          <a:xfrm>
            <a:off x="306791" y="1361638"/>
            <a:ext cx="2763900" cy="3115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41"/>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2"/>
          <p:cNvSpPr txBox="1"/>
          <p:nvPr>
            <p:ph type="title"/>
          </p:nvPr>
        </p:nvSpPr>
        <p:spPr>
          <a:xfrm>
            <a:off x="482530" y="441092"/>
            <a:ext cx="6267600" cy="400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2"/>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3"/>
          <p:cNvSpPr/>
          <p:nvPr/>
        </p:nvSpPr>
        <p:spPr>
          <a:xfrm>
            <a:off x="4500000" y="-122"/>
            <a:ext cx="4500000" cy="5040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3"/>
          <p:cNvSpPr txBox="1"/>
          <p:nvPr>
            <p:ph type="title"/>
          </p:nvPr>
        </p:nvSpPr>
        <p:spPr>
          <a:xfrm>
            <a:off x="261319" y="1208360"/>
            <a:ext cx="3981600" cy="14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3"/>
          <p:cNvSpPr txBox="1"/>
          <p:nvPr>
            <p:ph idx="1" type="subTitle"/>
          </p:nvPr>
        </p:nvSpPr>
        <p:spPr>
          <a:xfrm>
            <a:off x="261319" y="2746670"/>
            <a:ext cx="3981600" cy="1210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3"/>
          <p:cNvSpPr txBox="1"/>
          <p:nvPr>
            <p:ph idx="2" type="body"/>
          </p:nvPr>
        </p:nvSpPr>
        <p:spPr>
          <a:xfrm>
            <a:off x="4861713" y="709505"/>
            <a:ext cx="3776700" cy="3620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3"/>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4"/>
          <p:cNvSpPr txBox="1"/>
          <p:nvPr>
            <p:ph idx="1" type="body"/>
          </p:nvPr>
        </p:nvSpPr>
        <p:spPr>
          <a:xfrm>
            <a:off x="306791" y="4145445"/>
            <a:ext cx="5904300" cy="593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7" name="Google Shape;47;p44"/>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5"/>
          <p:cNvSpPr txBox="1"/>
          <p:nvPr>
            <p:ph hasCustomPrompt="1" type="title"/>
          </p:nvPr>
        </p:nvSpPr>
        <p:spPr>
          <a:xfrm>
            <a:off x="306791" y="1083867"/>
            <a:ext cx="8386500" cy="1924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5"/>
          <p:cNvSpPr txBox="1"/>
          <p:nvPr>
            <p:ph idx="1" type="body"/>
          </p:nvPr>
        </p:nvSpPr>
        <p:spPr>
          <a:xfrm>
            <a:off x="306791" y="3088794"/>
            <a:ext cx="8386500" cy="12747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45"/>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46"/>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306791" y="1129284"/>
            <a:ext cx="8386500" cy="33477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4"/>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hyperlink" Target="https://github.com/microsoft/ArxivFormula" TargetMode="External"/><Relationship Id="rId5" Type="http://schemas.openxmlformats.org/officeDocument/2006/relationships/hyperlink" Target="https://huggingface.co/datasets/OleehyO/latex-formulas" TargetMode="External"/><Relationship Id="rId6" Type="http://schemas.openxmlformats.org/officeDocument/2006/relationships/hyperlink" Target="https://huggingface.co/datasets/PleIAs/Math-PDF" TargetMode="External"/><Relationship Id="rId7" Type="http://schemas.openxmlformats.org/officeDocument/2006/relationships/hyperlink" Target="https://huggingface.co/datasets/hoang-quoc-trung/fusion-image-to-latex-datasets" TargetMode="External"/><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docs.google.com/presentation/d/15QmGWP_A9z9TEuRAsS1kCirCWWYg_ljx1VcL9NkURus/edit#slide=id.g307fc95508c_0_4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ya.ru/"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0"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8.png"/><Relationship Id="rId8"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0.png"/><Relationship Id="rId4" Type="http://schemas.openxmlformats.org/officeDocument/2006/relationships/image" Target="../media/image6.png"/><Relationship Id="rId5" Type="http://schemas.openxmlformats.org/officeDocument/2006/relationships/image" Target="../media/image32.png"/><Relationship Id="rId6" Type="http://schemas.openxmlformats.org/officeDocument/2006/relationships/image" Target="../media/image20.png"/></Relationships>
</file>

<file path=ppt/slides/_rels/slide32.xml.rels><?xml version="1.0" encoding="UTF-8" standalone="yes"?><Relationships xmlns="http://schemas.openxmlformats.org/package/2006/relationships"><Relationship Id="rId10"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1.png"/><Relationship Id="rId4" Type="http://schemas.openxmlformats.org/officeDocument/2006/relationships/image" Target="../media/image34.png"/><Relationship Id="rId9" Type="http://schemas.openxmlformats.org/officeDocument/2006/relationships/image" Target="../media/image28.png"/><Relationship Id="rId5" Type="http://schemas.openxmlformats.org/officeDocument/2006/relationships/image" Target="../media/image11.pn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txBox="1"/>
          <p:nvPr/>
        </p:nvSpPr>
        <p:spPr>
          <a:xfrm>
            <a:off x="352498" y="4041902"/>
            <a:ext cx="7347300" cy="114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600"/>
              <a:buFont typeface="Arial"/>
              <a:buNone/>
            </a:pPr>
            <a:r>
              <a:rPr lang="ru" sz="1600">
                <a:solidFill>
                  <a:schemeClr val="lt1"/>
                </a:solidFill>
                <a:latin typeface="Montserrat"/>
                <a:ea typeface="Montserrat"/>
                <a:cs typeface="Montserrat"/>
                <a:sym typeface="Montserrat"/>
              </a:rPr>
              <a:t>Выполнил: Насибулин Алексей Алексеевич</a:t>
            </a:r>
            <a:endParaRPr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600"/>
              <a:buFont typeface="Arial"/>
              <a:buNone/>
            </a:pPr>
            <a:r>
              <a:rPr lang="ru" sz="1600">
                <a:solidFill>
                  <a:schemeClr val="lt1"/>
                </a:solidFill>
                <a:latin typeface="Montserrat"/>
                <a:ea typeface="Montserrat"/>
                <a:cs typeface="Montserrat"/>
                <a:sym typeface="Montserrat"/>
              </a:rPr>
              <a:t>Научный руководитель: Атаева Ольга Муратовна, кандидат технических наук</a:t>
            </a:r>
            <a:endParaRPr sz="1600">
              <a:solidFill>
                <a:schemeClr val="lt1"/>
              </a:solidFill>
              <a:latin typeface="Montserrat"/>
              <a:ea typeface="Montserrat"/>
              <a:cs typeface="Montserrat"/>
              <a:sym typeface="Montserrat"/>
            </a:endParaRPr>
          </a:p>
        </p:txBody>
      </p:sp>
      <p:pic>
        <p:nvPicPr>
          <p:cNvPr id="60" name="Google Shape;60;p2"/>
          <p:cNvPicPr preferRelativeResize="0"/>
          <p:nvPr/>
        </p:nvPicPr>
        <p:blipFill rotWithShape="1">
          <a:blip r:embed="rId3">
            <a:alphaModFix/>
          </a:blip>
          <a:srcRect b="0" l="0" r="0" t="0"/>
          <a:stretch/>
        </p:blipFill>
        <p:spPr>
          <a:xfrm>
            <a:off x="7729623" y="156412"/>
            <a:ext cx="847909" cy="415398"/>
          </a:xfrm>
          <a:prstGeom prst="rect">
            <a:avLst/>
          </a:prstGeom>
          <a:noFill/>
          <a:ln>
            <a:noFill/>
          </a:ln>
        </p:spPr>
      </p:pic>
      <p:sp>
        <p:nvSpPr>
          <p:cNvPr id="61" name="Google Shape;61;p2"/>
          <p:cNvSpPr txBox="1"/>
          <p:nvPr/>
        </p:nvSpPr>
        <p:spPr>
          <a:xfrm>
            <a:off x="315775" y="456916"/>
            <a:ext cx="7347300" cy="239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5700"/>
              <a:buFont typeface="Arial"/>
              <a:buNone/>
            </a:pPr>
            <a:r>
              <a:rPr b="1" lang="ru" sz="3200">
                <a:solidFill>
                  <a:schemeClr val="lt1"/>
                </a:solidFill>
                <a:latin typeface="Montserrat"/>
                <a:ea typeface="Montserrat"/>
                <a:cs typeface="Montserrat"/>
                <a:sym typeface="Montserrat"/>
              </a:rPr>
              <a:t>Методы анализа и оценка сходства научных математических статей</a:t>
            </a:r>
            <a:endParaRPr b="1" sz="5700">
              <a:solidFill>
                <a:schemeClr val="lt1"/>
              </a:solidFill>
              <a:latin typeface="Montserrat"/>
              <a:ea typeface="Montserrat"/>
              <a:cs typeface="Montserrat"/>
              <a:sym typeface="Montserrat"/>
            </a:endParaRPr>
          </a:p>
        </p:txBody>
      </p:sp>
      <p:sp>
        <p:nvSpPr>
          <p:cNvPr id="62" name="Google Shape;62;p2"/>
          <p:cNvSpPr txBox="1"/>
          <p:nvPr/>
        </p:nvSpPr>
        <p:spPr>
          <a:xfrm>
            <a:off x="315779" y="2875318"/>
            <a:ext cx="7347300" cy="11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400"/>
              <a:buFont typeface="Arial"/>
              <a:buNone/>
            </a:pPr>
            <a:r>
              <a:rPr lang="ru" sz="2400">
                <a:solidFill>
                  <a:schemeClr val="lt1"/>
                </a:solidFill>
                <a:latin typeface="Montserrat"/>
                <a:ea typeface="Montserrat"/>
                <a:cs typeface="Montserrat"/>
                <a:sym typeface="Montserrat"/>
              </a:rPr>
              <a:t>Науки о данных</a:t>
            </a:r>
            <a:endParaRPr sz="240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3"/>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68" name="Google Shape;68;p3"/>
          <p:cNvSpPr txBox="1"/>
          <p:nvPr/>
        </p:nvSpPr>
        <p:spPr>
          <a:xfrm>
            <a:off x="368550" y="246500"/>
            <a:ext cx="8247900" cy="74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Проблема / исследовательский вопрос</a:t>
            </a:r>
            <a:endParaRPr b="1" i="0" sz="2800" u="none" cap="none" strike="noStrike">
              <a:solidFill>
                <a:srgbClr val="123194"/>
              </a:solidFill>
              <a:latin typeface="Montserrat"/>
              <a:ea typeface="Montserrat"/>
              <a:cs typeface="Montserrat"/>
              <a:sym typeface="Montserrat"/>
            </a:endParaRPr>
          </a:p>
        </p:txBody>
      </p:sp>
      <p:sp>
        <p:nvSpPr>
          <p:cNvPr id="69" name="Google Shape;69;p3"/>
          <p:cNvSpPr txBox="1"/>
          <p:nvPr/>
        </p:nvSpPr>
        <p:spPr>
          <a:xfrm>
            <a:off x="321325" y="1024950"/>
            <a:ext cx="7782300" cy="350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800"/>
              <a:buFont typeface="Arial"/>
              <a:buNone/>
            </a:pPr>
            <a:r>
              <a:rPr lang="ru" sz="1800">
                <a:solidFill>
                  <a:schemeClr val="dk1"/>
                </a:solidFill>
                <a:latin typeface="Montserrat"/>
                <a:ea typeface="Montserrat"/>
                <a:cs typeface="Montserrat"/>
                <a:sym typeface="Montserrat"/>
              </a:rPr>
              <a:t>Существуют различные методы оценки схожести научных статей, в частности, статей по математике.</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1800"/>
              <a:buFont typeface="Arial"/>
              <a:buNone/>
            </a:pPr>
            <a:r>
              <a:rPr lang="ru" sz="1800">
                <a:solidFill>
                  <a:schemeClr val="dk1"/>
                </a:solidFill>
                <a:latin typeface="Montserrat"/>
                <a:ea typeface="Montserrat"/>
                <a:cs typeface="Montserrat"/>
                <a:sym typeface="Montserrat"/>
              </a:rPr>
              <a:t>Однако эти методы оценки </a:t>
            </a:r>
            <a:r>
              <a:rPr b="1" lang="ru" sz="1800">
                <a:solidFill>
                  <a:schemeClr val="dk1"/>
                </a:solidFill>
                <a:latin typeface="Montserrat"/>
                <a:ea typeface="Montserrat"/>
                <a:cs typeface="Montserrat"/>
                <a:sym typeface="Montserrat"/>
              </a:rPr>
              <a:t>неэффективны </a:t>
            </a:r>
            <a:r>
              <a:rPr lang="ru" sz="1800">
                <a:solidFill>
                  <a:schemeClr val="dk1"/>
                </a:solidFill>
                <a:latin typeface="Montserrat"/>
                <a:ea typeface="Montserrat"/>
                <a:cs typeface="Montserrat"/>
                <a:sym typeface="Montserrat"/>
              </a:rPr>
              <a:t>для научных статей, содержащих большое количество </a:t>
            </a:r>
            <a:r>
              <a:rPr b="1" lang="ru" sz="1800">
                <a:solidFill>
                  <a:schemeClr val="dk1"/>
                </a:solidFill>
                <a:latin typeface="Montserrat"/>
                <a:ea typeface="Montserrat"/>
                <a:cs typeface="Montserrat"/>
                <a:sym typeface="Montserrat"/>
              </a:rPr>
              <a:t>математических формул</a:t>
            </a:r>
            <a:r>
              <a:rPr lang="ru" sz="1800">
                <a:solidFill>
                  <a:schemeClr val="dk1"/>
                </a:solidFill>
                <a:latin typeface="Montserrat"/>
                <a:ea typeface="Montserrat"/>
                <a:cs typeface="Montserrat"/>
                <a:sym typeface="Montserrat"/>
              </a:rPr>
              <a:t>, которые анализируются этими методами как обычный текст.</a:t>
            </a:r>
            <a:endParaRPr sz="1800">
              <a:solidFill>
                <a:schemeClr val="dk1"/>
              </a:solidFill>
              <a:latin typeface="Montserrat"/>
              <a:ea typeface="Montserrat"/>
              <a:cs typeface="Montserrat"/>
              <a:sym typeface="Montserrat"/>
            </a:endParaRPr>
          </a:p>
        </p:txBody>
      </p:sp>
      <p:pic>
        <p:nvPicPr>
          <p:cNvPr id="70" name="Google Shape;70;p3"/>
          <p:cNvPicPr preferRelativeResize="0"/>
          <p:nvPr/>
        </p:nvPicPr>
        <p:blipFill rotWithShape="1">
          <a:blip r:embed="rId4">
            <a:alphaModFix/>
          </a:blip>
          <a:srcRect b="0" l="0" r="0" t="0"/>
          <a:stretch/>
        </p:blipFill>
        <p:spPr>
          <a:xfrm>
            <a:off x="7314064" y="2115837"/>
            <a:ext cx="1685925" cy="2924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
          <p:cNvSpPr txBox="1"/>
          <p:nvPr/>
        </p:nvSpPr>
        <p:spPr>
          <a:xfrm>
            <a:off x="331280" y="28632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extLst>
                  <a:ext uri="http://customooxmlschemas.google.com/">
                    <go:slidesCustomData xmlns:go="http://customooxmlschemas.google.com/" textRoundtripDataId="0"/>
                  </a:ext>
                </a:extLst>
              </a:rPr>
              <a:t>Цель исследования</a:t>
            </a:r>
            <a:endParaRPr b="1" i="0" sz="2800" u="none" cap="none" strike="noStrike">
              <a:solidFill>
                <a:schemeClr val="lt1"/>
              </a:solidFill>
              <a:latin typeface="Montserrat"/>
              <a:ea typeface="Montserrat"/>
              <a:cs typeface="Montserrat"/>
              <a:sym typeface="Montserrat"/>
            </a:endParaRPr>
          </a:p>
        </p:txBody>
      </p:sp>
      <p:pic>
        <p:nvPicPr>
          <p:cNvPr id="77" name="Google Shape;77;p4"/>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
        <p:nvSpPr>
          <p:cNvPr id="78" name="Google Shape;78;p4"/>
          <p:cNvSpPr txBox="1"/>
          <p:nvPr/>
        </p:nvSpPr>
        <p:spPr>
          <a:xfrm>
            <a:off x="372725" y="1159200"/>
            <a:ext cx="3841800" cy="24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ru" sz="1800">
                <a:solidFill>
                  <a:schemeClr val="lt1"/>
                </a:solidFill>
                <a:latin typeface="Montserrat"/>
                <a:ea typeface="Montserrat"/>
                <a:cs typeface="Montserrat"/>
                <a:sym typeface="Montserrat"/>
              </a:rPr>
              <a:t>Цель - разработка метода оценки схожести математических текстов на основе математических формул, содержащихся в них.</a:t>
            </a:r>
            <a:endParaRPr sz="1800">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t/>
            </a:r>
            <a:endParaRPr sz="1800">
              <a:solidFill>
                <a:schemeClr val="lt1"/>
              </a:solidFill>
              <a:latin typeface="Montserrat"/>
              <a:ea typeface="Montserrat"/>
              <a:cs typeface="Montserrat"/>
              <a:sym typeface="Montserrat"/>
            </a:endParaRPr>
          </a:p>
        </p:txBody>
      </p:sp>
      <p:sp>
        <p:nvSpPr>
          <p:cNvPr id="79" name="Google Shape;79;p4"/>
          <p:cNvSpPr txBox="1"/>
          <p:nvPr/>
        </p:nvSpPr>
        <p:spPr>
          <a:xfrm>
            <a:off x="4616900" y="1096775"/>
            <a:ext cx="3841800" cy="231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b="1" i="0" lang="ru" sz="1800" u="none" cap="none" strike="noStrike">
                <a:solidFill>
                  <a:schemeClr val="lt1"/>
                </a:solidFill>
                <a:latin typeface="Montserrat"/>
                <a:ea typeface="Montserrat"/>
                <a:cs typeface="Montserrat"/>
                <a:sym typeface="Montserrat"/>
              </a:rPr>
              <a:t>Объект исследования</a:t>
            </a:r>
            <a:r>
              <a:rPr b="0" i="0" lang="ru" sz="1800" u="none" cap="none" strike="noStrike">
                <a:solidFill>
                  <a:schemeClr val="lt1"/>
                </a:solidFill>
                <a:latin typeface="Montserrat"/>
                <a:ea typeface="Montserrat"/>
                <a:cs typeface="Montserrat"/>
                <a:sym typeface="Montserrat"/>
              </a:rPr>
              <a:t>:</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поисковые системы</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b="1" i="0" lang="ru" sz="1800" u="none" cap="none" strike="noStrike">
                <a:solidFill>
                  <a:schemeClr val="lt1"/>
                </a:solidFill>
                <a:latin typeface="Montserrat"/>
                <a:ea typeface="Montserrat"/>
                <a:cs typeface="Montserrat"/>
                <a:sym typeface="Montserrat"/>
              </a:rPr>
              <a:t>Предмет исследования</a:t>
            </a:r>
            <a:r>
              <a:rPr b="0" i="0" lang="ru" sz="1800" u="none" cap="none" strike="noStrike">
                <a:solidFill>
                  <a:schemeClr val="lt1"/>
                </a:solidFill>
                <a:latin typeface="Montserrat"/>
                <a:ea typeface="Montserrat"/>
                <a:cs typeface="Montserrat"/>
                <a:sym typeface="Montserrat"/>
              </a:rPr>
              <a:t>:</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контекстное сравнение</a:t>
            </a:r>
            <a:endParaRPr sz="1800">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формул</a:t>
            </a:r>
            <a:endParaRPr sz="1800">
              <a:solidFill>
                <a:schemeClr val="lt1"/>
              </a:solidFill>
              <a:latin typeface="Montserrat"/>
              <a:ea typeface="Montserrat"/>
              <a:cs typeface="Montserrat"/>
              <a:sym typeface="Montserrat"/>
            </a:endParaRPr>
          </a:p>
        </p:txBody>
      </p:sp>
      <p:pic>
        <p:nvPicPr>
          <p:cNvPr id="80" name="Google Shape;80;p4"/>
          <p:cNvPicPr preferRelativeResize="0"/>
          <p:nvPr/>
        </p:nvPicPr>
        <p:blipFill rotWithShape="1">
          <a:blip r:embed="rId4">
            <a:alphaModFix/>
          </a:blip>
          <a:srcRect b="0" l="0" r="0" t="0"/>
          <a:stretch/>
        </p:blipFill>
        <p:spPr>
          <a:xfrm>
            <a:off x="6523814" y="2553963"/>
            <a:ext cx="2428875" cy="2486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5"/>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86" name="Google Shape;86;p5"/>
          <p:cNvSpPr txBox="1"/>
          <p:nvPr/>
        </p:nvSpPr>
        <p:spPr>
          <a:xfrm>
            <a:off x="321325" y="257500"/>
            <a:ext cx="8295000" cy="72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Обзор источников</a:t>
            </a:r>
            <a:endParaRPr b="1" i="0" sz="2800" u="none" cap="none" strike="noStrike">
              <a:solidFill>
                <a:srgbClr val="123194"/>
              </a:solidFill>
              <a:latin typeface="Montserrat"/>
              <a:ea typeface="Montserrat"/>
              <a:cs typeface="Montserrat"/>
              <a:sym typeface="Montserrat"/>
            </a:endParaRPr>
          </a:p>
        </p:txBody>
      </p:sp>
      <p:sp>
        <p:nvSpPr>
          <p:cNvPr id="87" name="Google Shape;87;p5"/>
          <p:cNvSpPr txBox="1"/>
          <p:nvPr/>
        </p:nvSpPr>
        <p:spPr>
          <a:xfrm>
            <a:off x="372358" y="1024944"/>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С</a:t>
            </a:r>
            <a:r>
              <a:rPr lang="ru" sz="1800">
                <a:solidFill>
                  <a:schemeClr val="dk1"/>
                </a:solidFill>
                <a:latin typeface="Montserrat"/>
                <a:ea typeface="Montserrat"/>
                <a:cs typeface="Montserrat"/>
                <a:sym typeface="Montserrat"/>
              </a:rPr>
              <a:t>овременные поисковые системы </a:t>
            </a:r>
            <a:r>
              <a:rPr lang="ru" sz="1800">
                <a:solidFill>
                  <a:schemeClr val="dk1"/>
                </a:solidFill>
                <a:latin typeface="Montserrat"/>
                <a:ea typeface="Montserrat"/>
                <a:cs typeface="Montserrat"/>
                <a:sym typeface="Montserrat"/>
              </a:rPr>
              <a:t>неспособны корректно различать математические формулы (например, y = a + bx^2 и y = a + bx -1/2 неразличимы для системы iThenticate).</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Для поиска по формулам либо применяют AST, либо делают индексацию по формулам (например, tangent 3). Оба метода работают </a:t>
            </a:r>
            <a:r>
              <a:rPr b="1" lang="ru" sz="1800">
                <a:solidFill>
                  <a:schemeClr val="dk1"/>
                </a:solidFill>
                <a:latin typeface="Montserrat"/>
                <a:ea typeface="Montserrat"/>
                <a:cs typeface="Montserrat"/>
                <a:sym typeface="Montserrat"/>
              </a:rPr>
              <a:t>без текстового подкрепления</a:t>
            </a:r>
            <a:r>
              <a:rPr lang="ru" sz="1800">
                <a:solidFill>
                  <a:schemeClr val="dk1"/>
                </a:solidFill>
                <a:latin typeface="Montserrat"/>
                <a:ea typeface="Montserrat"/>
                <a:cs typeface="Montserrat"/>
                <a:sym typeface="Montserrat"/>
              </a:rPr>
              <a:t>.</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1800"/>
              <a:buFont typeface="Arial"/>
              <a:buNone/>
            </a:pPr>
            <a:r>
              <a:rPr lang="ru" sz="1800">
                <a:solidFill>
                  <a:schemeClr val="dk1"/>
                </a:solidFill>
                <a:latin typeface="Montserrat"/>
                <a:ea typeface="Montserrat"/>
                <a:cs typeface="Montserrat"/>
                <a:sym typeface="Montserrat"/>
              </a:rPr>
              <a:t>Возможен поиск по формулам с текстовым подкреплением с помощью RAG-подобных систем (GraphRAG, KAG - OpenSPG).</a:t>
            </a:r>
            <a:endParaRPr sz="1800">
              <a:solidFill>
                <a:schemeClr val="dk1"/>
              </a:solidFill>
              <a:latin typeface="Montserrat"/>
              <a:ea typeface="Montserrat"/>
              <a:cs typeface="Montserrat"/>
              <a:sym typeface="Montserrat"/>
            </a:endParaRPr>
          </a:p>
        </p:txBody>
      </p:sp>
      <p:sp>
        <p:nvSpPr>
          <p:cNvPr id="88" name="Google Shape;88;p5"/>
          <p:cNvSpPr txBox="1"/>
          <p:nvPr/>
        </p:nvSpPr>
        <p:spPr>
          <a:xfrm>
            <a:off x="392725" y="1934125"/>
            <a:ext cx="8152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800">
                <a:solidFill>
                  <a:schemeClr val="dk2"/>
                </a:solidFill>
              </a:rPr>
              <a:t>Полянин А. Д., Шингарева И. К. Индекс подобия математических и других научных публикаций с уравнениями и формулами и проблема идентификации самоплагиата. Математическое моделирование и численные методы // № 2. — Москва : МГТУ им. Н. Э. Баумана, 2021. — С. 96—116</a:t>
            </a:r>
            <a:endParaRPr sz="800">
              <a:solidFill>
                <a:schemeClr val="dk2"/>
              </a:solidFill>
            </a:endParaRPr>
          </a:p>
        </p:txBody>
      </p:sp>
      <p:sp>
        <p:nvSpPr>
          <p:cNvPr id="89" name="Google Shape;89;p5"/>
          <p:cNvSpPr txBox="1"/>
          <p:nvPr/>
        </p:nvSpPr>
        <p:spPr>
          <a:xfrm>
            <a:off x="464125" y="3127075"/>
            <a:ext cx="81522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800">
                <a:solidFill>
                  <a:schemeClr val="dk2"/>
                </a:solidFill>
              </a:rPr>
              <a:t>Korukhova Y., Kriger K., Riazanova E. Information Retrieval for Texts with Formulas //. — 01.2022. — С. 350—362. — DOI: 10.20948/abrau-2022-7.</a:t>
            </a:r>
            <a:endParaRPr sz="800">
              <a:solidFill>
                <a:schemeClr val="dk2"/>
              </a:solidFill>
            </a:endParaRPr>
          </a:p>
        </p:txBody>
      </p:sp>
      <p:sp>
        <p:nvSpPr>
          <p:cNvPr id="90" name="Google Shape;90;p5"/>
          <p:cNvSpPr txBox="1"/>
          <p:nvPr/>
        </p:nvSpPr>
        <p:spPr>
          <a:xfrm>
            <a:off x="423900" y="3974125"/>
            <a:ext cx="8152200" cy="2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800">
                <a:solidFill>
                  <a:schemeClr val="dk2"/>
                </a:solidFill>
              </a:rPr>
              <a:t>From Local to Global: A Grap</a:t>
            </a:r>
            <a:r>
              <a:rPr lang="ru" sz="800">
                <a:solidFill>
                  <a:schemeClr val="dk2"/>
                </a:solidFill>
              </a:rPr>
              <a:t>h RAG Approach to Query-Focused Summarization/ D.Edge [и др.].</a:t>
            </a:r>
            <a:r>
              <a:rPr lang="ru" sz="800">
                <a:solidFill>
                  <a:schemeClr val="dk2"/>
                </a:solidFill>
              </a:rPr>
              <a:t> — 2025 — arXiv: 2404.16130 [cs.CL].</a:t>
            </a:r>
            <a:r>
              <a:rPr lang="ru" sz="800">
                <a:solidFill>
                  <a:schemeClr val="dk2"/>
                </a:solidFill>
              </a:rPr>
              <a:t> </a:t>
            </a:r>
            <a:r>
              <a:rPr lang="ru" sz="800">
                <a:solidFill>
                  <a:schemeClr val="dk2"/>
                </a:solidFill>
              </a:rPr>
              <a:t>—</a:t>
            </a:r>
            <a:r>
              <a:rPr lang="ru" sz="800">
                <a:solidFill>
                  <a:schemeClr val="dk2"/>
                </a:solidFill>
              </a:rPr>
              <a:t> </a:t>
            </a:r>
            <a:r>
              <a:rPr lang="ru" sz="800">
                <a:solidFill>
                  <a:schemeClr val="dk2"/>
                </a:solidFill>
              </a:rPr>
              <a:t>URL:https:</a:t>
            </a:r>
            <a:r>
              <a:rPr lang="ru" sz="800">
                <a:solidFill>
                  <a:schemeClr val="dk2"/>
                </a:solidFill>
              </a:rPr>
              <a:t>//arxiv.org/abs/2404.16130</a:t>
            </a:r>
            <a:endParaRPr sz="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6"/>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96" name="Google Shape;96;p6"/>
          <p:cNvSpPr txBox="1"/>
          <p:nvPr/>
        </p:nvSpPr>
        <p:spPr>
          <a:xfrm>
            <a:off x="343325" y="284975"/>
            <a:ext cx="37950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Новизна</a:t>
            </a:r>
            <a:endParaRPr b="1" i="0" sz="2800" u="none" cap="none" strike="noStrike">
              <a:solidFill>
                <a:srgbClr val="123194"/>
              </a:solidFill>
              <a:latin typeface="Montserrat"/>
              <a:ea typeface="Montserrat"/>
              <a:cs typeface="Montserrat"/>
              <a:sym typeface="Montserrat"/>
            </a:endParaRPr>
          </a:p>
        </p:txBody>
      </p:sp>
      <p:sp>
        <p:nvSpPr>
          <p:cNvPr id="97" name="Google Shape;97;p6"/>
          <p:cNvSpPr txBox="1"/>
          <p:nvPr/>
        </p:nvSpPr>
        <p:spPr>
          <a:xfrm>
            <a:off x="372725" y="1018750"/>
            <a:ext cx="3841800" cy="340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lang="ru" sz="1800">
                <a:latin typeface="Montserrat"/>
                <a:ea typeface="Montserrat"/>
                <a:cs typeface="Montserrat"/>
                <a:sym typeface="Montserrat"/>
              </a:rPr>
              <a:t>Реализуемый алгоритм приоритетного поиска</a:t>
            </a:r>
            <a:r>
              <a:rPr lang="ru" sz="1800">
                <a:latin typeface="Montserrat"/>
                <a:ea typeface="Montserrat"/>
                <a:cs typeface="Montserrat"/>
                <a:sym typeface="Montserrat"/>
              </a:rPr>
              <a:t> по математическим формулам способен более эффективна производить поиск научных статей по математике, чем используемая актуальные алгоритмы поиска по тексту.</a:t>
            </a:r>
            <a:endParaRPr b="0" sz="1800" u="none" cap="none" strike="noStrike">
              <a:solidFill>
                <a:schemeClr val="dk1"/>
              </a:solidFill>
              <a:latin typeface="Montserrat"/>
              <a:ea typeface="Montserrat"/>
              <a:cs typeface="Montserrat"/>
              <a:sym typeface="Montserrat"/>
            </a:endParaRPr>
          </a:p>
        </p:txBody>
      </p:sp>
      <p:sp>
        <p:nvSpPr>
          <p:cNvPr id="98" name="Google Shape;98;p6"/>
          <p:cNvSpPr txBox="1"/>
          <p:nvPr/>
        </p:nvSpPr>
        <p:spPr>
          <a:xfrm>
            <a:off x="4695775" y="284975"/>
            <a:ext cx="4111500" cy="79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Актуальность</a:t>
            </a:r>
            <a:endParaRPr b="1" i="0" sz="2800" u="none" cap="none" strike="noStrike">
              <a:solidFill>
                <a:srgbClr val="123194"/>
              </a:solidFill>
              <a:latin typeface="Montserrat"/>
              <a:ea typeface="Montserrat"/>
              <a:cs typeface="Montserrat"/>
              <a:sym typeface="Montserrat"/>
            </a:endParaRPr>
          </a:p>
        </p:txBody>
      </p:sp>
      <p:sp>
        <p:nvSpPr>
          <p:cNvPr id="99" name="Google Shape;99;p6"/>
          <p:cNvSpPr txBox="1"/>
          <p:nvPr/>
        </p:nvSpPr>
        <p:spPr>
          <a:xfrm>
            <a:off x="4699948" y="1018750"/>
            <a:ext cx="3841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Оценка сходства научных материалов по математике с точки зрения совпадения или близости по содержанию формул в настоящее время всё ещё недостаточно исследована.</a:t>
            </a:r>
            <a:endParaRPr b="0" sz="1800" u="none" cap="none" strike="noStrike">
              <a:solidFill>
                <a:schemeClr val="dk1"/>
              </a:solidFill>
              <a:latin typeface="Montserrat"/>
              <a:ea typeface="Montserrat"/>
              <a:cs typeface="Montserrat"/>
              <a:sym typeface="Montserrat"/>
            </a:endParaRPr>
          </a:p>
        </p:txBody>
      </p:sp>
      <p:pic>
        <p:nvPicPr>
          <p:cNvPr id="100" name="Google Shape;100;p6"/>
          <p:cNvPicPr preferRelativeResize="0"/>
          <p:nvPr/>
        </p:nvPicPr>
        <p:blipFill rotWithShape="1">
          <a:blip r:embed="rId4">
            <a:alphaModFix/>
          </a:blip>
          <a:srcRect b="0" l="0" r="0" t="0"/>
          <a:stretch/>
        </p:blipFill>
        <p:spPr>
          <a:xfrm>
            <a:off x="7247406" y="3030237"/>
            <a:ext cx="1752600" cy="2009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7"/>
          <p:cNvSpPr txBox="1"/>
          <p:nvPr/>
        </p:nvSpPr>
        <p:spPr>
          <a:xfrm>
            <a:off x="331280" y="28632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Гипотеза исследования</a:t>
            </a:r>
            <a:endParaRPr b="1" i="0" sz="2800" u="none" cap="none" strike="noStrike">
              <a:solidFill>
                <a:schemeClr val="lt1"/>
              </a:solidFill>
              <a:latin typeface="Montserrat"/>
              <a:ea typeface="Montserrat"/>
              <a:cs typeface="Montserrat"/>
              <a:sym typeface="Montserrat"/>
            </a:endParaRPr>
          </a:p>
        </p:txBody>
      </p:sp>
      <p:pic>
        <p:nvPicPr>
          <p:cNvPr id="107" name="Google Shape;107;p7"/>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
        <p:nvSpPr>
          <p:cNvPr id="108" name="Google Shape;108;p7"/>
          <p:cNvSpPr txBox="1"/>
          <p:nvPr/>
        </p:nvSpPr>
        <p:spPr>
          <a:xfrm>
            <a:off x="372725" y="1018750"/>
            <a:ext cx="7858200" cy="320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Применение алгоритмов машинного обучения для поиска схожих математических формул позволит значительно улучшить результаты работы </a:t>
            </a:r>
            <a:r>
              <a:rPr lang="ru" sz="1800">
                <a:solidFill>
                  <a:schemeClr val="lt1"/>
                </a:solidFill>
                <a:latin typeface="Montserrat"/>
                <a:ea typeface="Montserrat"/>
                <a:cs typeface="Montserrat"/>
                <a:sym typeface="Montserrat"/>
              </a:rPr>
              <a:t>упоминаемых</a:t>
            </a:r>
            <a:r>
              <a:rPr lang="ru" sz="1800">
                <a:solidFill>
                  <a:schemeClr val="lt1"/>
                </a:solidFill>
                <a:latin typeface="Montserrat"/>
                <a:ea typeface="Montserrat"/>
                <a:cs typeface="Montserrat"/>
                <a:sym typeface="Montserrat"/>
              </a:rPr>
              <a:t> поисковых систем, так как математика является “универсальным языком”, и поэтому формулы следует анализировать приоритетно по отношению к тексту.</a:t>
            </a:r>
            <a:endParaRPr sz="1800">
              <a:solidFill>
                <a:schemeClr val="lt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800"/>
              <a:buFont typeface="Arial"/>
              <a:buNone/>
            </a:pPr>
            <a:r>
              <a:rPr lang="ru" sz="1800">
                <a:solidFill>
                  <a:schemeClr val="lt1"/>
                </a:solidFill>
                <a:latin typeface="Montserrat"/>
                <a:ea typeface="Montserrat"/>
                <a:cs typeface="Montserrat"/>
                <a:sym typeface="Montserrat"/>
              </a:rPr>
              <a:t>Как минимум, такой поиск будет эффективен для поиска заимствований в статьях на </a:t>
            </a:r>
            <a:r>
              <a:rPr b="1" lang="ru" sz="1800">
                <a:solidFill>
                  <a:schemeClr val="lt1"/>
                </a:solidFill>
                <a:latin typeface="Montserrat"/>
                <a:ea typeface="Montserrat"/>
                <a:cs typeface="Montserrat"/>
                <a:sym typeface="Montserrat"/>
              </a:rPr>
              <a:t>других языках</a:t>
            </a:r>
            <a:r>
              <a:rPr lang="ru" sz="1800">
                <a:solidFill>
                  <a:schemeClr val="lt1"/>
                </a:solidFill>
                <a:latin typeface="Montserrat"/>
                <a:ea typeface="Montserrat"/>
                <a:cs typeface="Montserrat"/>
                <a:sym typeface="Montserrat"/>
              </a:rPr>
              <a:t>.</a:t>
            </a:r>
            <a:endParaRPr sz="800">
              <a:solidFill>
                <a:schemeClr val="lt1"/>
              </a:solidFill>
              <a:latin typeface="Montserrat"/>
              <a:ea typeface="Montserrat"/>
              <a:cs typeface="Montserrat"/>
              <a:sym typeface="Montserrat"/>
            </a:endParaRPr>
          </a:p>
        </p:txBody>
      </p:sp>
      <p:pic>
        <p:nvPicPr>
          <p:cNvPr id="109" name="Google Shape;109;p7"/>
          <p:cNvPicPr preferRelativeResize="0"/>
          <p:nvPr/>
        </p:nvPicPr>
        <p:blipFill rotWithShape="1">
          <a:blip r:embed="rId4">
            <a:alphaModFix/>
          </a:blip>
          <a:srcRect b="0" l="0" r="0" t="0"/>
          <a:stretch/>
        </p:blipFill>
        <p:spPr>
          <a:xfrm>
            <a:off x="7209288" y="2849259"/>
            <a:ext cx="1790700" cy="2190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Методология исследования</a:t>
            </a:r>
            <a:endParaRPr b="1" i="0" sz="2800" u="none" cap="none" strike="noStrike">
              <a:solidFill>
                <a:srgbClr val="123194"/>
              </a:solidFill>
              <a:latin typeface="Montserrat"/>
              <a:ea typeface="Montserrat"/>
              <a:cs typeface="Montserrat"/>
              <a:sym typeface="Montserrat"/>
            </a:endParaRPr>
          </a:p>
        </p:txBody>
      </p:sp>
      <p:pic>
        <p:nvPicPr>
          <p:cNvPr id="115" name="Google Shape;115;p8"/>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graphicFrame>
        <p:nvGraphicFramePr>
          <p:cNvPr id="116" name="Google Shape;116;p8"/>
          <p:cNvGraphicFramePr/>
          <p:nvPr/>
        </p:nvGraphicFramePr>
        <p:xfrm>
          <a:off x="460375" y="1062825"/>
          <a:ext cx="3000000" cy="3000000"/>
        </p:xfrm>
        <a:graphic>
          <a:graphicData uri="http://schemas.openxmlformats.org/drawingml/2006/table">
            <a:tbl>
              <a:tblPr>
                <a:noFill/>
                <a:tableStyleId>{3F22581A-C3AC-418A-95F8-EC9A11664057}</a:tableStyleId>
              </a:tblPr>
              <a:tblGrid>
                <a:gridCol w="4038675"/>
                <a:gridCol w="4038675"/>
              </a:tblGrid>
              <a:tr h="707900">
                <a:tc>
                  <a:txBody>
                    <a:bodyPr/>
                    <a:lstStyle/>
                    <a:p>
                      <a:pPr indent="0" lvl="0" marL="0" rtl="0" algn="l">
                        <a:spcBef>
                          <a:spcPts val="0"/>
                        </a:spcBef>
                        <a:spcAft>
                          <a:spcPts val="0"/>
                        </a:spcAft>
                        <a:buNone/>
                      </a:pPr>
                      <a:r>
                        <a:rPr lang="ru"/>
                        <a:t>Теоретический метод</a:t>
                      </a:r>
                      <a:endParaRPr/>
                    </a:p>
                  </a:txBody>
                  <a:tcPr marT="91425" marB="91425" marR="91425" marL="91425"/>
                </a:tc>
                <a:tc>
                  <a:txBody>
                    <a:bodyPr/>
                    <a:lstStyle/>
                    <a:p>
                      <a:pPr indent="0" lvl="0" marL="0" rtl="0" algn="l">
                        <a:spcBef>
                          <a:spcPts val="0"/>
                        </a:spcBef>
                        <a:spcAft>
                          <a:spcPts val="0"/>
                        </a:spcAft>
                        <a:buNone/>
                      </a:pPr>
                      <a:r>
                        <a:rPr lang="ru"/>
                        <a:t>Практический метод</a:t>
                      </a:r>
                      <a:endParaRPr/>
                    </a:p>
                  </a:txBody>
                  <a:tcPr marT="91425" marB="91425" marR="91425" marL="91425"/>
                </a:tc>
              </a:tr>
              <a:tr h="2436225">
                <a:tc>
                  <a:txBody>
                    <a:bodyPr/>
                    <a:lstStyle/>
                    <a:p>
                      <a:pPr indent="0" lvl="0" marL="0" rtl="0" algn="l">
                        <a:spcBef>
                          <a:spcPts val="0"/>
                        </a:spcBef>
                        <a:spcAft>
                          <a:spcPts val="0"/>
                        </a:spcAft>
                        <a:buNone/>
                      </a:pPr>
                      <a:r>
                        <a:rPr lang="ru"/>
                        <a:t>Исследование существующих научных публикаций:</a:t>
                      </a:r>
                      <a:endParaRPr/>
                    </a:p>
                    <a:p>
                      <a:pPr indent="-317500" lvl="0" marL="457200" rtl="0" algn="l">
                        <a:spcBef>
                          <a:spcPts val="0"/>
                        </a:spcBef>
                        <a:spcAft>
                          <a:spcPts val="0"/>
                        </a:spcAft>
                        <a:buSzPts val="1400"/>
                        <a:buChar char="●"/>
                      </a:pPr>
                      <a:r>
                        <a:rPr lang="ru"/>
                        <a:t>С базовой теорией </a:t>
                      </a:r>
                      <a:endParaRPr/>
                    </a:p>
                    <a:p>
                      <a:pPr indent="-317500" lvl="0" marL="457200" rtl="0" algn="l">
                        <a:spcBef>
                          <a:spcPts val="0"/>
                        </a:spcBef>
                        <a:spcAft>
                          <a:spcPts val="0"/>
                        </a:spcAft>
                        <a:buSzPts val="1400"/>
                        <a:buChar char="●"/>
                      </a:pPr>
                      <a:r>
                        <a:rPr lang="ru"/>
                        <a:t>С теорией и анализом проблем поиска  по математическим текстам</a:t>
                      </a:r>
                      <a:endParaRPr/>
                    </a:p>
                    <a:p>
                      <a:pPr indent="-317500" lvl="0" marL="457200" rtl="0" algn="l">
                        <a:spcBef>
                          <a:spcPts val="0"/>
                        </a:spcBef>
                        <a:spcAft>
                          <a:spcPts val="0"/>
                        </a:spcAft>
                        <a:buClr>
                          <a:schemeClr val="dk1"/>
                        </a:buClr>
                        <a:buSzPts val="1400"/>
                        <a:buChar char="●"/>
                      </a:pPr>
                      <a:r>
                        <a:rPr lang="ru">
                          <a:solidFill>
                            <a:schemeClr val="dk1"/>
                          </a:solidFill>
                        </a:rPr>
                        <a:t>С теорией и анализом проблем распознавания текстов и формул (OCR)</a:t>
                      </a:r>
                      <a:endParaRPr/>
                    </a:p>
                    <a:p>
                      <a:pPr indent="-317500" lvl="0" marL="457200" rtl="0" algn="l">
                        <a:spcBef>
                          <a:spcPts val="0"/>
                        </a:spcBef>
                        <a:spcAft>
                          <a:spcPts val="0"/>
                        </a:spcAft>
                        <a:buSzPts val="1400"/>
                        <a:buChar char="●"/>
                      </a:pPr>
                      <a:r>
                        <a:rPr lang="ru"/>
                        <a:t>С реализацией различных технологий, решающих проблемы выше.</a:t>
                      </a:r>
                      <a:endParaRPr/>
                    </a:p>
                  </a:txBody>
                  <a:tcPr marT="91425" marB="91425" marR="91425" marL="91425"/>
                </a:tc>
                <a:tc>
                  <a:txBody>
                    <a:bodyPr/>
                    <a:lstStyle/>
                    <a:p>
                      <a:pPr indent="0" lvl="0" marL="0" rtl="0" algn="l">
                        <a:spcBef>
                          <a:spcPts val="0"/>
                        </a:spcBef>
                        <a:spcAft>
                          <a:spcPts val="0"/>
                        </a:spcAft>
                        <a:buNone/>
                      </a:pPr>
                      <a:r>
                        <a:rPr lang="ru"/>
                        <a:t>Тестирование методик/технологий:</a:t>
                      </a:r>
                      <a:endParaRPr/>
                    </a:p>
                    <a:p>
                      <a:pPr indent="-317500" lvl="0" marL="457200" rtl="0" algn="l">
                        <a:spcBef>
                          <a:spcPts val="0"/>
                        </a:spcBef>
                        <a:spcAft>
                          <a:spcPts val="0"/>
                        </a:spcAft>
                        <a:buSzPts val="1400"/>
                        <a:buChar char="●"/>
                      </a:pPr>
                      <a:r>
                        <a:rPr lang="ru"/>
                        <a:t>AST (дерево подстановок)</a:t>
                      </a:r>
                      <a:endParaRPr/>
                    </a:p>
                    <a:p>
                      <a:pPr indent="-317500" lvl="0" marL="457200" rtl="0" algn="l">
                        <a:spcBef>
                          <a:spcPts val="0"/>
                        </a:spcBef>
                        <a:spcAft>
                          <a:spcPts val="0"/>
                        </a:spcAft>
                        <a:buSzPts val="1400"/>
                        <a:buChar char="●"/>
                      </a:pPr>
                      <a:r>
                        <a:rPr lang="ru"/>
                        <a:t>M</a:t>
                      </a:r>
                      <a:r>
                        <a:rPr lang="ru"/>
                        <a:t>ultimodal Image-Text-to-Text (granite-docling-258m)</a:t>
                      </a:r>
                      <a:endParaRPr/>
                    </a:p>
                    <a:p>
                      <a:pPr indent="-317500" lvl="0" marL="457200" rtl="0" algn="l">
                        <a:spcBef>
                          <a:spcPts val="0"/>
                        </a:spcBef>
                        <a:spcAft>
                          <a:spcPts val="0"/>
                        </a:spcAft>
                        <a:buSzPts val="1400"/>
                        <a:buChar char="●"/>
                      </a:pPr>
                      <a:r>
                        <a:rPr lang="ru"/>
                        <a:t>GraphRAG (LightRAG)</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Разработка собственного алгоритма поиска на осн</a:t>
                      </a:r>
                      <a:r>
                        <a:rPr lang="ru"/>
                        <a:t>ове </a:t>
                      </a:r>
                      <a:r>
                        <a:rPr lang="ru"/>
                        <a:t>RAG-подобной системы. Для распознавания используется </a:t>
                      </a:r>
                      <a:r>
                        <a:rPr lang="ru">
                          <a:solidFill>
                            <a:schemeClr val="dk1"/>
                          </a:solidFill>
                        </a:rPr>
                        <a:t>OCR с дообучением моделей.</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nvSpPr>
        <p:spPr>
          <a:xfrm>
            <a:off x="279593" y="10249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Montserrat"/>
              <a:buAutoNum type="arabicPeriod"/>
            </a:pPr>
            <a:r>
              <a:rPr lang="ru" sz="1800">
                <a:latin typeface="Montserrat"/>
                <a:ea typeface="Montserrat"/>
                <a:cs typeface="Montserrat"/>
                <a:sym typeface="Montserrat"/>
              </a:rPr>
              <a:t>Анализ и сравнение технологий распознавания текста и математических формул.</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000"/>
              </a:spcBef>
              <a:spcAft>
                <a:spcPts val="0"/>
              </a:spcAft>
              <a:buClr>
                <a:schemeClr val="dk1"/>
              </a:buClr>
              <a:buSzPts val="1800"/>
              <a:buFont typeface="Montserrat"/>
              <a:buAutoNum type="arabicPeriod"/>
            </a:pPr>
            <a:r>
              <a:rPr lang="ru" sz="1800">
                <a:solidFill>
                  <a:schemeClr val="dk1"/>
                </a:solidFill>
                <a:latin typeface="Montserrat"/>
                <a:ea typeface="Montserrat"/>
                <a:cs typeface="Montserrat"/>
                <a:sym typeface="Montserrat"/>
              </a:rPr>
              <a:t>Анализ и сравнение технологий поиска математических формул.</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000"/>
              </a:spcBef>
              <a:spcAft>
                <a:spcPts val="0"/>
              </a:spcAft>
              <a:buClr>
                <a:schemeClr val="dk1"/>
              </a:buClr>
              <a:buSzPts val="1800"/>
              <a:buFont typeface="Montserrat"/>
              <a:buAutoNum type="arabicPeriod"/>
            </a:pPr>
            <a:r>
              <a:rPr lang="ru" sz="1800">
                <a:solidFill>
                  <a:schemeClr val="dk1"/>
                </a:solidFill>
                <a:latin typeface="Montserrat"/>
                <a:ea typeface="Montserrat"/>
                <a:cs typeface="Montserrat"/>
                <a:sym typeface="Montserrat"/>
              </a:rPr>
              <a:t>Реализация алгоритма поиска формул из анализируемой работы с учётом контекста.</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000"/>
              </a:spcBef>
              <a:spcAft>
                <a:spcPts val="0"/>
              </a:spcAft>
              <a:buNone/>
            </a:pPr>
            <a:r>
              <a:t/>
            </a:r>
            <a:endParaRPr b="0" i="0" sz="18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00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pic>
        <p:nvPicPr>
          <p:cNvPr id="122" name="Google Shape;122;p9"/>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23" name="Google Shape;123;p9"/>
          <p:cNvSpPr txBox="1"/>
          <p:nvPr/>
        </p:nvSpPr>
        <p:spPr>
          <a:xfrm>
            <a:off x="279608" y="233379"/>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Задачи исследования в 3 семестре</a:t>
            </a:r>
            <a:endParaRPr b="1" i="0" sz="2800" u="none" cap="none" strike="noStrike">
              <a:solidFill>
                <a:srgbClr val="123194"/>
              </a:solidFill>
              <a:latin typeface="Montserrat"/>
              <a:ea typeface="Montserrat"/>
              <a:cs typeface="Montserrat"/>
              <a:sym typeface="Montserrat"/>
            </a:endParaRPr>
          </a:p>
        </p:txBody>
      </p:sp>
      <p:pic>
        <p:nvPicPr>
          <p:cNvPr id="124" name="Google Shape;124;p9"/>
          <p:cNvPicPr preferRelativeResize="0"/>
          <p:nvPr/>
        </p:nvPicPr>
        <p:blipFill rotWithShape="1">
          <a:blip r:embed="rId4">
            <a:alphaModFix/>
          </a:blip>
          <a:srcRect b="0" l="0" r="0" t="0"/>
          <a:stretch/>
        </p:blipFill>
        <p:spPr>
          <a:xfrm>
            <a:off x="7980826" y="2373000"/>
            <a:ext cx="1019175" cy="2667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30" name="Google Shape;130;p10"/>
          <p:cNvSpPr txBox="1"/>
          <p:nvPr/>
        </p:nvSpPr>
        <p:spPr>
          <a:xfrm>
            <a:off x="368558" y="2820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Источники данных для исследования</a:t>
            </a:r>
            <a:endParaRPr b="1" i="0" sz="2800" u="none" cap="none" strike="noStrike">
              <a:solidFill>
                <a:srgbClr val="123194"/>
              </a:solidFill>
              <a:latin typeface="Montserrat"/>
              <a:ea typeface="Montserrat"/>
              <a:cs typeface="Montserrat"/>
              <a:sym typeface="Montserrat"/>
            </a:endParaRPr>
          </a:p>
        </p:txBody>
      </p:sp>
      <p:sp>
        <p:nvSpPr>
          <p:cNvPr id="131" name="Google Shape;131;p10"/>
          <p:cNvSpPr txBox="1"/>
          <p:nvPr/>
        </p:nvSpPr>
        <p:spPr>
          <a:xfrm>
            <a:off x="279593"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Montserrat"/>
              <a:buChar char="●"/>
            </a:pPr>
            <a:r>
              <a:rPr lang="ru" sz="1800" u="sng">
                <a:solidFill>
                  <a:schemeClr val="hlink"/>
                </a:solidFill>
                <a:latin typeface="Montserrat"/>
                <a:ea typeface="Montserrat"/>
                <a:cs typeface="Montserrat"/>
                <a:sym typeface="Montserrat"/>
                <a:hlinkClick r:id="rId4"/>
              </a:rPr>
              <a:t>ArxivFormula</a:t>
            </a:r>
            <a:r>
              <a:rPr lang="ru" sz="1800">
                <a:latin typeface="Montserrat"/>
                <a:ea typeface="Montserrat"/>
                <a:cs typeface="Montserrat"/>
                <a:sym typeface="Montserrat"/>
              </a:rPr>
              <a:t> - страницы с разметкой текстов и формул</a:t>
            </a:r>
            <a:endParaRPr b="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lang="ru" sz="1800" u="sng">
                <a:solidFill>
                  <a:schemeClr val="hlink"/>
                </a:solidFill>
                <a:latin typeface="Montserrat"/>
                <a:ea typeface="Montserrat"/>
                <a:cs typeface="Montserrat"/>
                <a:sym typeface="Montserrat"/>
                <a:hlinkClick r:id="rId5"/>
              </a:rPr>
              <a:t>latex-formulas</a:t>
            </a:r>
            <a:r>
              <a:rPr lang="ru" sz="1800">
                <a:solidFill>
                  <a:schemeClr val="dk1"/>
                </a:solidFill>
                <a:latin typeface="Montserrat"/>
                <a:ea typeface="Montserrat"/>
                <a:cs typeface="Montserrat"/>
                <a:sym typeface="Montserrat"/>
              </a:rPr>
              <a:t> - LaTex-формулы и их изображения (1)</a:t>
            </a:r>
            <a:endParaRPr b="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lang="ru" sz="1800" u="sng">
                <a:solidFill>
                  <a:schemeClr val="hlink"/>
                </a:solidFill>
                <a:latin typeface="Montserrat"/>
                <a:ea typeface="Montserrat"/>
                <a:cs typeface="Montserrat"/>
                <a:sym typeface="Montserrat"/>
                <a:hlinkClick r:id="rId6"/>
              </a:rPr>
              <a:t>Math-PDF</a:t>
            </a:r>
            <a:r>
              <a:rPr lang="ru" sz="1800">
                <a:solidFill>
                  <a:schemeClr val="dk1"/>
                </a:solidFill>
                <a:latin typeface="Montserrat"/>
                <a:ea typeface="Montserrat"/>
                <a:cs typeface="Montserrat"/>
                <a:sym typeface="Montserrat"/>
              </a:rPr>
              <a:t> - сборник статей по математике в PDF-формате</a:t>
            </a:r>
            <a:endParaRPr sz="1800">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lang="ru" sz="1800" u="sng">
                <a:solidFill>
                  <a:schemeClr val="hlink"/>
                </a:solidFill>
                <a:latin typeface="Montserrat"/>
                <a:ea typeface="Montserrat"/>
                <a:cs typeface="Montserrat"/>
                <a:sym typeface="Montserrat"/>
                <a:hlinkClick r:id="rId7"/>
              </a:rPr>
              <a:t>fusion-image-to-latex</a:t>
            </a:r>
            <a:r>
              <a:rPr lang="ru" sz="1800">
                <a:solidFill>
                  <a:schemeClr val="dk1"/>
                </a:solidFill>
                <a:latin typeface="Montserrat"/>
                <a:ea typeface="Montserrat"/>
                <a:cs typeface="Montserrat"/>
                <a:sym typeface="Montserrat"/>
              </a:rPr>
              <a:t> - </a:t>
            </a:r>
            <a:r>
              <a:rPr lang="ru" sz="1800">
                <a:solidFill>
                  <a:schemeClr val="dk1"/>
                </a:solidFill>
                <a:latin typeface="Montserrat"/>
                <a:ea typeface="Montserrat"/>
                <a:cs typeface="Montserrat"/>
                <a:sym typeface="Montserrat"/>
              </a:rPr>
              <a:t>LaTex-формулы и их изображения (2)</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2000"/>
              <a:buFont typeface="Arial"/>
              <a:buNone/>
            </a:pPr>
            <a:r>
              <a:t/>
            </a:r>
            <a:endParaRPr b="0" sz="20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sz="2000" u="none" cap="none" strike="noStrike">
              <a:solidFill>
                <a:schemeClr val="dk1"/>
              </a:solidFill>
              <a:latin typeface="Montserrat"/>
              <a:ea typeface="Montserrat"/>
              <a:cs typeface="Montserrat"/>
              <a:sym typeface="Montserrat"/>
            </a:endParaRPr>
          </a:p>
        </p:txBody>
      </p:sp>
      <p:pic>
        <p:nvPicPr>
          <p:cNvPr id="132" name="Google Shape;132;p10"/>
          <p:cNvPicPr preferRelativeResize="0"/>
          <p:nvPr/>
        </p:nvPicPr>
        <p:blipFill rotWithShape="1">
          <a:blip r:embed="rId8">
            <a:alphaModFix/>
          </a:blip>
          <a:srcRect b="0" l="0" r="0" t="0"/>
          <a:stretch/>
        </p:blipFill>
        <p:spPr>
          <a:xfrm>
            <a:off x="7828225" y="2379075"/>
            <a:ext cx="1171775" cy="2660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1"/>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Дизайн эксперимента</a:t>
            </a:r>
            <a:endParaRPr b="1" i="0" sz="2800" u="none" cap="none" strike="noStrike">
              <a:solidFill>
                <a:srgbClr val="123194"/>
              </a:solidFill>
              <a:latin typeface="Montserrat"/>
              <a:ea typeface="Montserrat"/>
              <a:cs typeface="Montserrat"/>
              <a:sym typeface="Montserrat"/>
            </a:endParaRPr>
          </a:p>
        </p:txBody>
      </p:sp>
      <p:sp>
        <p:nvSpPr>
          <p:cNvPr id="138" name="Google Shape;138;p11"/>
          <p:cNvSpPr txBox="1"/>
          <p:nvPr/>
        </p:nvSpPr>
        <p:spPr>
          <a:xfrm>
            <a:off x="369925" y="1011650"/>
            <a:ext cx="8167800" cy="364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В начале проводится анализ существующих методик.</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Далее создаётся концепт алгоритма приоритетного поиска по математическим формулам. Определяется, какие типы технологий требуется исследовать.</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Затем производится анализ существующих технологий OCR и индексации. Выбираются лучшие варианты.</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Потом производится разработка алгоритма, его тестирование.</a:t>
            </a:r>
            <a:endParaRPr sz="1800">
              <a:solidFill>
                <a:schemeClr val="dk1"/>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1800"/>
              <a:buFont typeface="Arial"/>
              <a:buNone/>
            </a:pPr>
            <a:r>
              <a:rPr lang="ru" sz="1800">
                <a:solidFill>
                  <a:schemeClr val="dk1"/>
                </a:solidFill>
                <a:latin typeface="Montserrat"/>
                <a:ea typeface="Montserrat"/>
                <a:cs typeface="Montserrat"/>
                <a:sym typeface="Montserrat"/>
              </a:rPr>
              <a:t>Затем анализируются достигнутые результаты.</a:t>
            </a:r>
            <a:endParaRPr sz="1800">
              <a:solidFill>
                <a:schemeClr val="dk1"/>
              </a:solidFill>
              <a:latin typeface="Montserrat"/>
              <a:ea typeface="Montserrat"/>
              <a:cs typeface="Montserrat"/>
              <a:sym typeface="Montserrat"/>
            </a:endParaRPr>
          </a:p>
        </p:txBody>
      </p:sp>
      <p:pic>
        <p:nvPicPr>
          <p:cNvPr id="139" name="Google Shape;139;p11"/>
          <p:cNvPicPr preferRelativeResize="0"/>
          <p:nvPr/>
        </p:nvPicPr>
        <p:blipFill rotWithShape="1">
          <a:blip r:embed="rId3">
            <a:alphaModFix/>
          </a:blip>
          <a:srcRect b="0" l="1162" r="1162" t="0"/>
          <a:stretch/>
        </p:blipFill>
        <p:spPr>
          <a:xfrm>
            <a:off x="7813101" y="3873275"/>
            <a:ext cx="1186900" cy="1166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g36fe4f8a42b_0_54"/>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45" name="Google Shape;145;g36fe4f8a42b_0_54"/>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Обзор технологий OCR (1)</a:t>
            </a:r>
            <a:endParaRPr b="1" i="0" sz="2800" u="none" cap="none" strike="noStrike">
              <a:solidFill>
                <a:srgbClr val="123194"/>
              </a:solidFill>
              <a:latin typeface="Montserrat"/>
              <a:ea typeface="Montserrat"/>
              <a:cs typeface="Montserrat"/>
              <a:sym typeface="Montserrat"/>
            </a:endParaRPr>
          </a:p>
        </p:txBody>
      </p:sp>
      <p:sp>
        <p:nvSpPr>
          <p:cNvPr id="146" name="Google Shape;146;g36fe4f8a42b_0_54"/>
          <p:cNvSpPr txBox="1"/>
          <p:nvPr/>
        </p:nvSpPr>
        <p:spPr>
          <a:xfrm>
            <a:off x="372358" y="985577"/>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t/>
            </a:r>
            <a:endParaRPr b="0" i="0" sz="1800" u="sng" cap="none" strike="noStrike">
              <a:solidFill>
                <a:srgbClr val="123194"/>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graphicFrame>
        <p:nvGraphicFramePr>
          <p:cNvPr id="147" name="Google Shape;147;g36fe4f8a42b_0_54"/>
          <p:cNvGraphicFramePr/>
          <p:nvPr/>
        </p:nvGraphicFramePr>
        <p:xfrm>
          <a:off x="388625" y="985575"/>
          <a:ext cx="3000000" cy="3000000"/>
        </p:xfrm>
        <a:graphic>
          <a:graphicData uri="http://schemas.openxmlformats.org/drawingml/2006/table">
            <a:tbl>
              <a:tblPr>
                <a:noFill/>
                <a:tableStyleId>{3F22581A-C3AC-418A-95F8-EC9A11664057}</a:tableStyleId>
              </a:tblPr>
              <a:tblGrid>
                <a:gridCol w="2061975"/>
                <a:gridCol w="2061975"/>
                <a:gridCol w="2061975"/>
                <a:gridCol w="2061975"/>
              </a:tblGrid>
              <a:tr h="771200">
                <a:tc>
                  <a:txBody>
                    <a:bodyPr/>
                    <a:lstStyle/>
                    <a:p>
                      <a:pPr indent="0" lvl="0" marL="0" rtl="0" algn="l">
                        <a:spcBef>
                          <a:spcPts val="0"/>
                        </a:spcBef>
                        <a:spcAft>
                          <a:spcPts val="0"/>
                        </a:spcAft>
                        <a:buNone/>
                      </a:pPr>
                      <a:r>
                        <a:rPr lang="ru"/>
                        <a:t>Технология/модель</a:t>
                      </a:r>
                      <a:endParaRPr/>
                    </a:p>
                  </a:txBody>
                  <a:tcPr marT="91425" marB="91425" marR="91425" marL="91425"/>
                </a:tc>
                <a:tc>
                  <a:txBody>
                    <a:bodyPr/>
                    <a:lstStyle/>
                    <a:p>
                      <a:pPr indent="0" lvl="0" marL="0" rtl="0" algn="l">
                        <a:spcBef>
                          <a:spcPts val="0"/>
                        </a:spcBef>
                        <a:spcAft>
                          <a:spcPts val="0"/>
                        </a:spcAft>
                        <a:buNone/>
                      </a:pPr>
                      <a:r>
                        <a:rPr lang="ru"/>
                        <a:t>Описание</a:t>
                      </a:r>
                      <a:endParaRPr/>
                    </a:p>
                  </a:txBody>
                  <a:tcPr marT="91425" marB="91425" marR="91425" marL="91425"/>
                </a:tc>
                <a:tc>
                  <a:txBody>
                    <a:bodyPr/>
                    <a:lstStyle/>
                    <a:p>
                      <a:pPr indent="0" lvl="0" marL="0" rtl="0" algn="l">
                        <a:spcBef>
                          <a:spcPts val="0"/>
                        </a:spcBef>
                        <a:spcAft>
                          <a:spcPts val="0"/>
                        </a:spcAft>
                        <a:buNone/>
                      </a:pPr>
                      <a:r>
                        <a:rPr lang="ru"/>
                        <a:t>Результат эксперимента</a:t>
                      </a:r>
                      <a:endParaRPr/>
                    </a:p>
                  </a:txBody>
                  <a:tcPr marT="91425" marB="91425" marR="91425" marL="91425"/>
                </a:tc>
                <a:tc>
                  <a:txBody>
                    <a:bodyPr/>
                    <a:lstStyle/>
                    <a:p>
                      <a:pPr indent="0" lvl="0" marL="0" rtl="0" algn="l">
                        <a:spcBef>
                          <a:spcPts val="0"/>
                        </a:spcBef>
                        <a:spcAft>
                          <a:spcPts val="0"/>
                        </a:spcAft>
                        <a:buNone/>
                      </a:pPr>
                      <a:r>
                        <a:rPr lang="ru"/>
                        <a:t>Особенности</a:t>
                      </a:r>
                      <a:endParaRPr/>
                    </a:p>
                  </a:txBody>
                  <a:tcPr marT="91425" marB="91425" marR="91425" marL="91425"/>
                </a:tc>
              </a:tr>
              <a:tr h="1186500">
                <a:tc>
                  <a:txBody>
                    <a:bodyPr/>
                    <a:lstStyle/>
                    <a:p>
                      <a:pPr indent="0" lvl="0" marL="0" rtl="0" algn="l">
                        <a:spcBef>
                          <a:spcPts val="0"/>
                        </a:spcBef>
                        <a:spcAft>
                          <a:spcPts val="0"/>
                        </a:spcAft>
                        <a:buNone/>
                      </a:pPr>
                      <a:r>
                        <a:rPr lang="ru"/>
                        <a:t>G</a:t>
                      </a:r>
                      <a:r>
                        <a:rPr lang="ru"/>
                        <a:t>ranite-docling-258M</a:t>
                      </a:r>
                      <a:endParaRPr/>
                    </a:p>
                  </a:txBody>
                  <a:tcPr marT="91425" marB="91425" marR="91425" marL="91425"/>
                </a:tc>
                <a:tc>
                  <a:txBody>
                    <a:bodyPr/>
                    <a:lstStyle/>
                    <a:p>
                      <a:pPr indent="0" lvl="0" marL="0" rtl="0" algn="l">
                        <a:spcBef>
                          <a:spcPts val="0"/>
                        </a:spcBef>
                        <a:spcAft>
                          <a:spcPts val="0"/>
                        </a:spcAft>
                        <a:buNone/>
                      </a:pPr>
                      <a:r>
                        <a:rPr lang="ru"/>
                        <a:t>multimodal Image-Text-to-Text,</a:t>
                      </a:r>
                      <a:endParaRPr/>
                    </a:p>
                    <a:p>
                      <a:pPr indent="0" lvl="0" marL="0" rtl="0" algn="l">
                        <a:spcBef>
                          <a:spcPts val="0"/>
                        </a:spcBef>
                        <a:spcAft>
                          <a:spcPts val="0"/>
                        </a:spcAft>
                        <a:buNone/>
                      </a:pPr>
                      <a:r>
                        <a:rPr lang="ru"/>
                        <a:t>ориентирован для RAG-систем</a:t>
                      </a:r>
                      <a:endParaRPr/>
                    </a:p>
                  </a:txBody>
                  <a:tcPr marT="91425" marB="91425" marR="91425" marL="91425"/>
                </a:tc>
                <a:tc>
                  <a:txBody>
                    <a:bodyPr/>
                    <a:lstStyle/>
                    <a:p>
                      <a:pPr indent="0" lvl="0" marL="0" rtl="0" algn="l">
                        <a:spcBef>
                          <a:spcPts val="0"/>
                        </a:spcBef>
                        <a:spcAft>
                          <a:spcPts val="0"/>
                        </a:spcAft>
                        <a:buNone/>
                      </a:pPr>
                      <a:r>
                        <a:rPr lang="ru"/>
                        <a:t>Плохо работает с русскоязычными текстами, “ломает” формулы</a:t>
                      </a:r>
                      <a:endParaRPr/>
                    </a:p>
                  </a:txBody>
                  <a:tcPr marT="91425" marB="91425" marR="91425" marL="91425"/>
                </a:tc>
                <a:tc>
                  <a:txBody>
                    <a:bodyPr/>
                    <a:lstStyle/>
                    <a:p>
                      <a:pPr indent="0" lvl="0" marL="0" rtl="0" algn="l">
                        <a:spcBef>
                          <a:spcPts val="0"/>
                        </a:spcBef>
                        <a:spcAft>
                          <a:spcPts val="0"/>
                        </a:spcAft>
                        <a:buNone/>
                      </a:pPr>
                      <a:r>
                        <a:rPr lang="ru"/>
                        <a:t>Долго работает, использует OCR для </a:t>
                      </a:r>
                      <a:r>
                        <a:rPr lang="ru"/>
                        <a:t>распознавания</a:t>
                      </a:r>
                      <a:r>
                        <a:rPr lang="ru"/>
                        <a:t> текста</a:t>
                      </a:r>
                      <a:endParaRPr/>
                    </a:p>
                  </a:txBody>
                  <a:tcPr marT="91425" marB="91425" marR="91425" marL="91425"/>
                </a:tc>
              </a:tr>
              <a:tr h="771200">
                <a:tc>
                  <a:txBody>
                    <a:bodyPr/>
                    <a:lstStyle/>
                    <a:p>
                      <a:pPr indent="0" lvl="0" marL="0" rtl="0" algn="l">
                        <a:spcBef>
                          <a:spcPts val="0"/>
                        </a:spcBef>
                        <a:spcAft>
                          <a:spcPts val="0"/>
                        </a:spcAft>
                        <a:buNone/>
                      </a:pPr>
                      <a:r>
                        <a:rPr lang="ru"/>
                        <a:t>Nougat</a:t>
                      </a:r>
                      <a:endParaRPr/>
                    </a:p>
                  </a:txBody>
                  <a:tcPr marT="91425" marB="91425" marR="91425" marL="91425"/>
                </a:tc>
                <a:tc>
                  <a:txBody>
                    <a:bodyPr/>
                    <a:lstStyle/>
                    <a:p>
                      <a:pPr indent="0" lvl="0" marL="0" rtl="0" algn="l">
                        <a:spcBef>
                          <a:spcPts val="0"/>
                        </a:spcBef>
                        <a:spcAft>
                          <a:spcPts val="0"/>
                        </a:spcAft>
                        <a:buNone/>
                      </a:pPr>
                      <a:r>
                        <a:rPr lang="ru"/>
                        <a:t>PDF-to-markdown</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ru">
                          <a:solidFill>
                            <a:schemeClr val="dk1"/>
                          </a:solidFill>
                        </a:rPr>
                        <a:t>Плохо работает с русскоязычными текстами, не-TeX формат формул</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ru"/>
                        <a:t>Возможно дообучение, но мультиязычность невозможна.</a:t>
                      </a:r>
                      <a:endParaRPr/>
                    </a:p>
                  </a:txBody>
                  <a:tcPr marT="91425" marB="91425" marR="91425" marL="91425"/>
                </a:tc>
              </a:tr>
            </a:tbl>
          </a:graphicData>
        </a:graphic>
      </p:graphicFrame>
      <p:pic>
        <p:nvPicPr>
          <p:cNvPr id="148" name="Google Shape;148;g36fe4f8a42b_0_54"/>
          <p:cNvPicPr preferRelativeResize="0"/>
          <p:nvPr/>
        </p:nvPicPr>
        <p:blipFill rotWithShape="1">
          <a:blip r:embed="rId4">
            <a:alphaModFix/>
          </a:blip>
          <a:srcRect b="0" l="0" r="0" t="0"/>
          <a:stretch/>
        </p:blipFill>
        <p:spPr>
          <a:xfrm>
            <a:off x="7939889" y="4192894"/>
            <a:ext cx="1060113" cy="847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6fe4f8a42b_0_64"/>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54" name="Google Shape;154;g36fe4f8a42b_0_64"/>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Обзор </a:t>
            </a:r>
            <a:r>
              <a:rPr b="1" lang="ru" sz="2800">
                <a:solidFill>
                  <a:srgbClr val="123194"/>
                </a:solidFill>
                <a:latin typeface="Montserrat"/>
                <a:ea typeface="Montserrat"/>
                <a:cs typeface="Montserrat"/>
                <a:sym typeface="Montserrat"/>
              </a:rPr>
              <a:t>технологий OCR (2)</a:t>
            </a:r>
            <a:endParaRPr b="1" i="0" sz="2800" u="none" cap="none" strike="noStrike">
              <a:solidFill>
                <a:srgbClr val="123194"/>
              </a:solidFill>
              <a:latin typeface="Montserrat"/>
              <a:ea typeface="Montserrat"/>
              <a:cs typeface="Montserrat"/>
              <a:sym typeface="Montserrat"/>
            </a:endParaRPr>
          </a:p>
        </p:txBody>
      </p:sp>
      <p:sp>
        <p:nvSpPr>
          <p:cNvPr id="155" name="Google Shape;155;g36fe4f8a42b_0_64"/>
          <p:cNvSpPr txBox="1"/>
          <p:nvPr/>
        </p:nvSpPr>
        <p:spPr>
          <a:xfrm>
            <a:off x="372358" y="985577"/>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t/>
            </a:r>
            <a:endParaRPr b="0" i="0" sz="1800" u="sng" cap="none" strike="noStrike">
              <a:solidFill>
                <a:srgbClr val="123194"/>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graphicFrame>
        <p:nvGraphicFramePr>
          <p:cNvPr id="156" name="Google Shape;156;g36fe4f8a42b_0_64"/>
          <p:cNvGraphicFramePr/>
          <p:nvPr/>
        </p:nvGraphicFramePr>
        <p:xfrm>
          <a:off x="388625" y="985575"/>
          <a:ext cx="3000000" cy="3000000"/>
        </p:xfrm>
        <a:graphic>
          <a:graphicData uri="http://schemas.openxmlformats.org/drawingml/2006/table">
            <a:tbl>
              <a:tblPr>
                <a:noFill/>
                <a:tableStyleId>{3F22581A-C3AC-418A-95F8-EC9A11664057}</a:tableStyleId>
              </a:tblPr>
              <a:tblGrid>
                <a:gridCol w="2061975"/>
                <a:gridCol w="2061975"/>
                <a:gridCol w="2061975"/>
                <a:gridCol w="2061975"/>
              </a:tblGrid>
              <a:tr h="786675">
                <a:tc>
                  <a:txBody>
                    <a:bodyPr/>
                    <a:lstStyle/>
                    <a:p>
                      <a:pPr indent="0" lvl="0" marL="0" rtl="0" algn="l">
                        <a:spcBef>
                          <a:spcPts val="0"/>
                        </a:spcBef>
                        <a:spcAft>
                          <a:spcPts val="0"/>
                        </a:spcAft>
                        <a:buNone/>
                      </a:pPr>
                      <a:r>
                        <a:rPr lang="ru"/>
                        <a:t>Технология/модель</a:t>
                      </a:r>
                      <a:endParaRPr/>
                    </a:p>
                  </a:txBody>
                  <a:tcPr marT="91425" marB="91425" marR="91425" marL="91425"/>
                </a:tc>
                <a:tc>
                  <a:txBody>
                    <a:bodyPr/>
                    <a:lstStyle/>
                    <a:p>
                      <a:pPr indent="0" lvl="0" marL="0" rtl="0" algn="l">
                        <a:spcBef>
                          <a:spcPts val="0"/>
                        </a:spcBef>
                        <a:spcAft>
                          <a:spcPts val="0"/>
                        </a:spcAft>
                        <a:buNone/>
                      </a:pPr>
                      <a:r>
                        <a:rPr lang="ru"/>
                        <a:t>Описание</a:t>
                      </a:r>
                      <a:endParaRPr/>
                    </a:p>
                  </a:txBody>
                  <a:tcPr marT="91425" marB="91425" marR="91425" marL="91425"/>
                </a:tc>
                <a:tc>
                  <a:txBody>
                    <a:bodyPr/>
                    <a:lstStyle/>
                    <a:p>
                      <a:pPr indent="0" lvl="0" marL="0" rtl="0" algn="l">
                        <a:spcBef>
                          <a:spcPts val="0"/>
                        </a:spcBef>
                        <a:spcAft>
                          <a:spcPts val="0"/>
                        </a:spcAft>
                        <a:buNone/>
                      </a:pPr>
                      <a:r>
                        <a:rPr lang="ru"/>
                        <a:t>Результат эксперимента</a:t>
                      </a:r>
                      <a:endParaRPr/>
                    </a:p>
                  </a:txBody>
                  <a:tcPr marT="91425" marB="91425" marR="91425" marL="91425"/>
                </a:tc>
                <a:tc>
                  <a:txBody>
                    <a:bodyPr/>
                    <a:lstStyle/>
                    <a:p>
                      <a:pPr indent="0" lvl="0" marL="0" rtl="0" algn="l">
                        <a:spcBef>
                          <a:spcPts val="0"/>
                        </a:spcBef>
                        <a:spcAft>
                          <a:spcPts val="0"/>
                        </a:spcAft>
                        <a:buNone/>
                      </a:pPr>
                      <a:r>
                        <a:rPr lang="ru"/>
                        <a:t>Особенности</a:t>
                      </a:r>
                      <a:endParaRPr/>
                    </a:p>
                  </a:txBody>
                  <a:tcPr marT="91425" marB="91425" marR="91425" marL="91425"/>
                </a:tc>
              </a:tr>
              <a:tr h="1210325">
                <a:tc>
                  <a:txBody>
                    <a:bodyPr/>
                    <a:lstStyle/>
                    <a:p>
                      <a:pPr indent="0" lvl="0" marL="0" rtl="0" algn="l">
                        <a:spcBef>
                          <a:spcPts val="0"/>
                        </a:spcBef>
                        <a:spcAft>
                          <a:spcPts val="0"/>
                        </a:spcAft>
                        <a:buNone/>
                      </a:pPr>
                      <a:r>
                        <a:rPr b="1" lang="ru"/>
                        <a:t>DocLayout + pix2tex</a:t>
                      </a:r>
                      <a:endParaRPr b="1"/>
                    </a:p>
                    <a:p>
                      <a:pPr indent="0" lvl="0" marL="0" rtl="0" algn="l">
                        <a:spcBef>
                          <a:spcPts val="0"/>
                        </a:spcBef>
                        <a:spcAft>
                          <a:spcPts val="0"/>
                        </a:spcAft>
                        <a:buNone/>
                      </a:pPr>
                      <a:r>
                        <a:rPr b="1" lang="ru"/>
                        <a:t>(pdf-extract-kit)</a:t>
                      </a:r>
                      <a:endParaRPr b="1"/>
                    </a:p>
                  </a:txBody>
                  <a:tcPr marT="91425" marB="91425" marR="91425" marL="91425"/>
                </a:tc>
                <a:tc>
                  <a:txBody>
                    <a:bodyPr/>
                    <a:lstStyle/>
                    <a:p>
                      <a:pPr indent="0" lvl="0" marL="0" rtl="0" algn="l">
                        <a:spcBef>
                          <a:spcPts val="0"/>
                        </a:spcBef>
                        <a:spcAft>
                          <a:spcPts val="0"/>
                        </a:spcAft>
                        <a:buNone/>
                      </a:pPr>
                      <a:r>
                        <a:rPr lang="ru"/>
                        <a:t>Распознавание документа по сегментам</a:t>
                      </a:r>
                      <a:endParaRPr/>
                    </a:p>
                  </a:txBody>
                  <a:tcPr marT="91425" marB="91425" marR="91425" marL="91425"/>
                </a:tc>
                <a:tc>
                  <a:txBody>
                    <a:bodyPr/>
                    <a:lstStyle/>
                    <a:p>
                      <a:pPr indent="0" lvl="0" marL="0" rtl="0" algn="l">
                        <a:spcBef>
                          <a:spcPts val="0"/>
                        </a:spcBef>
                        <a:spcAft>
                          <a:spcPts val="0"/>
                        </a:spcAft>
                        <a:buNone/>
                      </a:pPr>
                      <a:r>
                        <a:rPr lang="ru"/>
                        <a:t>Точное распознавание, 8/10 формул</a:t>
                      </a:r>
                      <a:endParaRPr/>
                    </a:p>
                  </a:txBody>
                  <a:tcPr marT="91425" marB="91425" marR="91425" marL="91425"/>
                </a:tc>
                <a:tc>
                  <a:txBody>
                    <a:bodyPr/>
                    <a:lstStyle/>
                    <a:p>
                      <a:pPr indent="0" lvl="0" marL="0" rtl="0" algn="l">
                        <a:spcBef>
                          <a:spcPts val="0"/>
                        </a:spcBef>
                        <a:spcAft>
                          <a:spcPts val="0"/>
                        </a:spcAft>
                        <a:buNone/>
                      </a:pPr>
                      <a:r>
                        <a:rPr lang="ru"/>
                        <a:t>Нужна дополнительно технология распознавания текста</a:t>
                      </a:r>
                      <a:endParaRPr/>
                    </a:p>
                  </a:txBody>
                  <a:tcPr marT="91425" marB="91425" marR="91425" marL="91425"/>
                </a:tc>
              </a:tr>
              <a:tr h="1210325">
                <a:tc>
                  <a:txBody>
                    <a:bodyPr/>
                    <a:lstStyle/>
                    <a:p>
                      <a:pPr indent="0" lvl="0" marL="0" rtl="0" algn="l">
                        <a:spcBef>
                          <a:spcPts val="0"/>
                        </a:spcBef>
                        <a:spcAft>
                          <a:spcPts val="0"/>
                        </a:spcAft>
                        <a:buNone/>
                      </a:pPr>
                      <a:r>
                        <a:rPr lang="ru"/>
                        <a:t>PaddleOCR</a:t>
                      </a:r>
                      <a:endParaRPr/>
                    </a:p>
                  </a:txBody>
                  <a:tcPr marT="91425" marB="91425" marR="91425" marL="91425"/>
                </a:tc>
                <a:tc>
                  <a:txBody>
                    <a:bodyPr/>
                    <a:lstStyle/>
                    <a:p>
                      <a:pPr indent="0" lvl="0" marL="0" rtl="0" algn="l">
                        <a:spcBef>
                          <a:spcPts val="0"/>
                        </a:spcBef>
                        <a:spcAft>
                          <a:spcPts val="0"/>
                        </a:spcAft>
                        <a:buNone/>
                      </a:pPr>
                      <a:r>
                        <a:rPr lang="ru"/>
                        <a:t>Готовое распознавание текста из PDF-файлов</a:t>
                      </a:r>
                      <a:endParaRPr/>
                    </a:p>
                  </a:txBody>
                  <a:tcPr marT="91425" marB="91425" marR="91425" marL="91425"/>
                </a:tc>
                <a:tc>
                  <a:txBody>
                    <a:bodyPr/>
                    <a:lstStyle/>
                    <a:p>
                      <a:pPr indent="0" lvl="0" marL="0" rtl="0" algn="l">
                        <a:spcBef>
                          <a:spcPts val="0"/>
                        </a:spcBef>
                        <a:spcAft>
                          <a:spcPts val="0"/>
                        </a:spcAft>
                        <a:buNone/>
                      </a:pPr>
                      <a:r>
                        <a:rPr lang="ru"/>
                        <a:t>Точное</a:t>
                      </a:r>
                      <a:r>
                        <a:rPr lang="ru"/>
                        <a:t> распознавание</a:t>
                      </a:r>
                      <a:r>
                        <a:rPr lang="ru"/>
                        <a:t> текстов, если указать язык.</a:t>
                      </a:r>
                      <a:endParaRPr/>
                    </a:p>
                  </a:txBody>
                  <a:tcPr marT="91425" marB="91425" marR="91425" marL="91425"/>
                </a:tc>
                <a:tc>
                  <a:txBody>
                    <a:bodyPr/>
                    <a:lstStyle/>
                    <a:p>
                      <a:pPr indent="0" lvl="0" marL="0" rtl="0" algn="l">
                        <a:spcBef>
                          <a:spcPts val="0"/>
                        </a:spcBef>
                        <a:spcAft>
                          <a:spcPts val="0"/>
                        </a:spcAft>
                        <a:buNone/>
                      </a:pPr>
                      <a:r>
                        <a:rPr lang="ru"/>
                        <a:t>Экспортирует формулы в тексте не в LaTeX формате</a:t>
                      </a:r>
                      <a:endParaRPr/>
                    </a:p>
                  </a:txBody>
                  <a:tcPr marT="91425" marB="91425" marR="91425" marL="91425"/>
                </a:tc>
              </a:tr>
            </a:tbl>
          </a:graphicData>
        </a:graphic>
      </p:graphicFrame>
      <p:pic>
        <p:nvPicPr>
          <p:cNvPr id="157" name="Google Shape;157;g36fe4f8a42b_0_64"/>
          <p:cNvPicPr preferRelativeResize="0"/>
          <p:nvPr/>
        </p:nvPicPr>
        <p:blipFill rotWithShape="1">
          <a:blip r:embed="rId4">
            <a:alphaModFix/>
          </a:blip>
          <a:srcRect b="0" l="0" r="0" t="0"/>
          <a:stretch/>
        </p:blipFill>
        <p:spPr>
          <a:xfrm>
            <a:off x="7939889" y="4192894"/>
            <a:ext cx="1060113" cy="847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6fe4f8a42b_0_71"/>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63" name="Google Shape;163;g36fe4f8a42b_0_71"/>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lang="ru" sz="2800">
                <a:solidFill>
                  <a:srgbClr val="123194"/>
                </a:solidFill>
                <a:latin typeface="Montserrat"/>
                <a:ea typeface="Montserrat"/>
                <a:cs typeface="Montserrat"/>
                <a:sym typeface="Montserrat"/>
              </a:rPr>
              <a:t>Обзор </a:t>
            </a:r>
            <a:r>
              <a:rPr b="1" lang="ru" sz="2800">
                <a:solidFill>
                  <a:srgbClr val="123194"/>
                </a:solidFill>
                <a:latin typeface="Montserrat"/>
                <a:ea typeface="Montserrat"/>
                <a:cs typeface="Montserrat"/>
                <a:sym typeface="Montserrat"/>
              </a:rPr>
              <a:t>технологий поиска</a:t>
            </a:r>
            <a:endParaRPr b="1" i="0" sz="2800" u="none" cap="none" strike="noStrike">
              <a:solidFill>
                <a:srgbClr val="123194"/>
              </a:solidFill>
              <a:latin typeface="Montserrat"/>
              <a:ea typeface="Montserrat"/>
              <a:cs typeface="Montserrat"/>
              <a:sym typeface="Montserrat"/>
            </a:endParaRPr>
          </a:p>
        </p:txBody>
      </p:sp>
      <p:graphicFrame>
        <p:nvGraphicFramePr>
          <p:cNvPr id="164" name="Google Shape;164;g36fe4f8a42b_0_71"/>
          <p:cNvGraphicFramePr/>
          <p:nvPr/>
        </p:nvGraphicFramePr>
        <p:xfrm>
          <a:off x="388625" y="985575"/>
          <a:ext cx="3000000" cy="3000000"/>
        </p:xfrm>
        <a:graphic>
          <a:graphicData uri="http://schemas.openxmlformats.org/drawingml/2006/table">
            <a:tbl>
              <a:tblPr>
                <a:noFill/>
                <a:tableStyleId>{3F22581A-C3AC-418A-95F8-EC9A11664057}</a:tableStyleId>
              </a:tblPr>
              <a:tblGrid>
                <a:gridCol w="2061975"/>
                <a:gridCol w="2061975"/>
                <a:gridCol w="2061975"/>
                <a:gridCol w="2061975"/>
              </a:tblGrid>
              <a:tr h="786675">
                <a:tc>
                  <a:txBody>
                    <a:bodyPr/>
                    <a:lstStyle/>
                    <a:p>
                      <a:pPr indent="0" lvl="0" marL="0" rtl="0" algn="l">
                        <a:spcBef>
                          <a:spcPts val="0"/>
                        </a:spcBef>
                        <a:spcAft>
                          <a:spcPts val="0"/>
                        </a:spcAft>
                        <a:buNone/>
                      </a:pPr>
                      <a:r>
                        <a:rPr lang="ru"/>
                        <a:t>Технология/модель</a:t>
                      </a:r>
                      <a:endParaRPr/>
                    </a:p>
                  </a:txBody>
                  <a:tcPr marT="91425" marB="91425" marR="91425" marL="91425"/>
                </a:tc>
                <a:tc>
                  <a:txBody>
                    <a:bodyPr/>
                    <a:lstStyle/>
                    <a:p>
                      <a:pPr indent="0" lvl="0" marL="0" rtl="0" algn="l">
                        <a:spcBef>
                          <a:spcPts val="0"/>
                        </a:spcBef>
                        <a:spcAft>
                          <a:spcPts val="0"/>
                        </a:spcAft>
                        <a:buNone/>
                      </a:pPr>
                      <a:r>
                        <a:rPr lang="ru"/>
                        <a:t>Описание</a:t>
                      </a:r>
                      <a:endParaRPr/>
                    </a:p>
                  </a:txBody>
                  <a:tcPr marT="91425" marB="91425" marR="91425" marL="91425"/>
                </a:tc>
                <a:tc>
                  <a:txBody>
                    <a:bodyPr/>
                    <a:lstStyle/>
                    <a:p>
                      <a:pPr indent="0" lvl="0" marL="0" rtl="0" algn="l">
                        <a:spcBef>
                          <a:spcPts val="0"/>
                        </a:spcBef>
                        <a:spcAft>
                          <a:spcPts val="0"/>
                        </a:spcAft>
                        <a:buNone/>
                      </a:pPr>
                      <a:r>
                        <a:rPr lang="ru"/>
                        <a:t>Результат эксперимента</a:t>
                      </a:r>
                      <a:endParaRPr/>
                    </a:p>
                  </a:txBody>
                  <a:tcPr marT="91425" marB="91425" marR="91425" marL="91425"/>
                </a:tc>
                <a:tc>
                  <a:txBody>
                    <a:bodyPr/>
                    <a:lstStyle/>
                    <a:p>
                      <a:pPr indent="0" lvl="0" marL="0" rtl="0" algn="l">
                        <a:spcBef>
                          <a:spcPts val="0"/>
                        </a:spcBef>
                        <a:spcAft>
                          <a:spcPts val="0"/>
                        </a:spcAft>
                        <a:buNone/>
                      </a:pPr>
                      <a:r>
                        <a:rPr lang="ru"/>
                        <a:t>Особенности</a:t>
                      </a:r>
                      <a:endParaRPr/>
                    </a:p>
                  </a:txBody>
                  <a:tcPr marT="91425" marB="91425" marR="91425" marL="91425"/>
                </a:tc>
              </a:tr>
              <a:tr h="1210325">
                <a:tc>
                  <a:txBody>
                    <a:bodyPr/>
                    <a:lstStyle/>
                    <a:p>
                      <a:pPr indent="0" lvl="0" marL="0" rtl="0" algn="l">
                        <a:spcBef>
                          <a:spcPts val="0"/>
                        </a:spcBef>
                        <a:spcAft>
                          <a:spcPts val="0"/>
                        </a:spcAft>
                        <a:buNone/>
                      </a:pPr>
                      <a:r>
                        <a:rPr lang="ru"/>
                        <a:t>AST</a:t>
                      </a:r>
                      <a:endParaRPr/>
                    </a:p>
                  </a:txBody>
                  <a:tcPr marT="91425" marB="91425" marR="91425" marL="91425"/>
                </a:tc>
                <a:tc>
                  <a:txBody>
                    <a:bodyPr/>
                    <a:lstStyle/>
                    <a:p>
                      <a:pPr indent="0" lvl="0" marL="0" rtl="0" algn="l">
                        <a:spcBef>
                          <a:spcPts val="0"/>
                        </a:spcBef>
                        <a:spcAft>
                          <a:spcPts val="0"/>
                        </a:spcAft>
                        <a:buNone/>
                      </a:pPr>
                      <a:r>
                        <a:rPr lang="ru"/>
                        <a:t>Классический алгоритм дерева подстановок</a:t>
                      </a:r>
                      <a:endParaRPr/>
                    </a:p>
                  </a:txBody>
                  <a:tcPr marT="91425" marB="91425" marR="91425" marL="91425"/>
                </a:tc>
                <a:tc>
                  <a:txBody>
                    <a:bodyPr/>
                    <a:lstStyle/>
                    <a:p>
                      <a:pPr indent="0" lvl="0" marL="0" rtl="0" algn="l">
                        <a:spcBef>
                          <a:spcPts val="0"/>
                        </a:spcBef>
                        <a:spcAft>
                          <a:spcPts val="0"/>
                        </a:spcAft>
                        <a:buNone/>
                      </a:pPr>
                      <a:r>
                        <a:rPr lang="ru"/>
                        <a:t>Ищет только формулы, похожие и по символам, и по форме</a:t>
                      </a:r>
                      <a:endParaRPr/>
                    </a:p>
                  </a:txBody>
                  <a:tcPr marT="91425" marB="91425" marR="91425" marL="91425"/>
                </a:tc>
                <a:tc>
                  <a:txBody>
                    <a:bodyPr/>
                    <a:lstStyle/>
                    <a:p>
                      <a:pPr indent="0" lvl="0" marL="0" rtl="0" algn="l">
                        <a:spcBef>
                          <a:spcPts val="0"/>
                        </a:spcBef>
                        <a:spcAft>
                          <a:spcPts val="0"/>
                        </a:spcAft>
                        <a:buNone/>
                      </a:pPr>
                      <a:r>
                        <a:rPr lang="ru"/>
                        <a:t>Не предполагает ни учёта контекста, ни поиска по смыслу</a:t>
                      </a:r>
                      <a:endParaRPr/>
                    </a:p>
                  </a:txBody>
                  <a:tcPr marT="91425" marB="91425" marR="91425" marL="91425"/>
                </a:tc>
              </a:tr>
              <a:tr h="1210325">
                <a:tc>
                  <a:txBody>
                    <a:bodyPr/>
                    <a:lstStyle/>
                    <a:p>
                      <a:pPr indent="0" lvl="0" marL="0" rtl="0" algn="l">
                        <a:spcBef>
                          <a:spcPts val="0"/>
                        </a:spcBef>
                        <a:spcAft>
                          <a:spcPts val="0"/>
                        </a:spcAft>
                        <a:buNone/>
                      </a:pPr>
                      <a:r>
                        <a:rPr lang="ru"/>
                        <a:t>GraphRAG</a:t>
                      </a:r>
                      <a:endParaRPr/>
                    </a:p>
                    <a:p>
                      <a:pPr indent="0" lvl="0" marL="0" rtl="0" algn="l">
                        <a:spcBef>
                          <a:spcPts val="0"/>
                        </a:spcBef>
                        <a:spcAft>
                          <a:spcPts val="0"/>
                        </a:spcAft>
                        <a:buClr>
                          <a:schemeClr val="dk1"/>
                        </a:buClr>
                        <a:buSzPts val="1100"/>
                        <a:buFont typeface="Arial"/>
                        <a:buNone/>
                      </a:pPr>
                      <a:r>
                        <a:rPr lang="ru">
                          <a:solidFill>
                            <a:schemeClr val="dk1"/>
                          </a:solidFill>
                        </a:rPr>
                        <a:t>реализация: LightRAG</a:t>
                      </a:r>
                      <a:endParaRPr/>
                    </a:p>
                  </a:txBody>
                  <a:tcPr marT="91425" marB="91425" marR="91425" marL="91425"/>
                </a:tc>
                <a:tc>
                  <a:txBody>
                    <a:bodyPr/>
                    <a:lstStyle/>
                    <a:p>
                      <a:pPr indent="0" lvl="0" marL="0" rtl="0" algn="l">
                        <a:spcBef>
                          <a:spcPts val="0"/>
                        </a:spcBef>
                        <a:spcAft>
                          <a:spcPts val="0"/>
                        </a:spcAft>
                        <a:buNone/>
                      </a:pPr>
                      <a:r>
                        <a:rPr lang="ru"/>
                        <a:t>Улучшенная версия RAG</a:t>
                      </a:r>
                      <a:endParaRPr/>
                    </a:p>
                  </a:txBody>
                  <a:tcPr marT="91425" marB="91425" marR="91425" marL="91425"/>
                </a:tc>
                <a:tc>
                  <a:txBody>
                    <a:bodyPr/>
                    <a:lstStyle/>
                    <a:p>
                      <a:pPr indent="0" lvl="0" marL="0" rtl="0" algn="l">
                        <a:spcBef>
                          <a:spcPts val="0"/>
                        </a:spcBef>
                        <a:spcAft>
                          <a:spcPts val="0"/>
                        </a:spcAft>
                        <a:buNone/>
                      </a:pPr>
                      <a:r>
                        <a:rPr lang="ru"/>
                        <a:t>Находит близкие по смыслу формулы, основываясь на тексте возле формул</a:t>
                      </a:r>
                      <a:endParaRPr/>
                    </a:p>
                  </a:txBody>
                  <a:tcPr marT="91425" marB="91425" marR="91425" marL="91425"/>
                </a:tc>
                <a:tc>
                  <a:txBody>
                    <a:bodyPr/>
                    <a:lstStyle/>
                    <a:p>
                      <a:pPr indent="0" lvl="0" marL="0" rtl="0" algn="l">
                        <a:spcBef>
                          <a:spcPts val="0"/>
                        </a:spcBef>
                        <a:spcAft>
                          <a:spcPts val="0"/>
                        </a:spcAft>
                        <a:buNone/>
                      </a:pPr>
                      <a:r>
                        <a:rPr lang="ru"/>
                        <a:t>Проблемы с индексацией формул</a:t>
                      </a:r>
                      <a:endParaRPr/>
                    </a:p>
                  </a:txBody>
                  <a:tcPr marT="91425" marB="91425" marR="91425" marL="91425"/>
                </a:tc>
              </a:tr>
            </a:tbl>
          </a:graphicData>
        </a:graphic>
      </p:graphicFrame>
      <p:pic>
        <p:nvPicPr>
          <p:cNvPr id="165" name="Google Shape;165;g36fe4f8a42b_0_71"/>
          <p:cNvPicPr preferRelativeResize="0"/>
          <p:nvPr/>
        </p:nvPicPr>
        <p:blipFill rotWithShape="1">
          <a:blip r:embed="rId4">
            <a:alphaModFix/>
          </a:blip>
          <a:srcRect b="0" l="0" r="0" t="0"/>
          <a:stretch/>
        </p:blipFill>
        <p:spPr>
          <a:xfrm>
            <a:off x="7939889" y="4192894"/>
            <a:ext cx="1060113" cy="847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 name="Shape 169"/>
        <p:cNvGrpSpPr/>
        <p:nvPr/>
      </p:nvGrpSpPr>
      <p:grpSpPr>
        <a:xfrm>
          <a:off x="0" y="0"/>
          <a:ext cx="0" cy="0"/>
          <a:chOff x="0" y="0"/>
          <a:chExt cx="0" cy="0"/>
        </a:xfrm>
      </p:grpSpPr>
      <p:sp>
        <p:nvSpPr>
          <p:cNvPr id="170" name="Google Shape;170;p12"/>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2"/>
          <p:cNvSpPr txBox="1"/>
          <p:nvPr/>
        </p:nvSpPr>
        <p:spPr>
          <a:xfrm>
            <a:off x="331280" y="28632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*Риски и ограничения исследования</a:t>
            </a:r>
            <a:endParaRPr b="1" i="0" sz="2800" u="none" cap="none" strike="noStrike">
              <a:solidFill>
                <a:schemeClr val="lt1"/>
              </a:solidFill>
              <a:latin typeface="Montserrat"/>
              <a:ea typeface="Montserrat"/>
              <a:cs typeface="Montserrat"/>
              <a:sym typeface="Montserrat"/>
            </a:endParaRPr>
          </a:p>
        </p:txBody>
      </p:sp>
      <p:pic>
        <p:nvPicPr>
          <p:cNvPr id="172" name="Google Shape;172;p12"/>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
        <p:nvSpPr>
          <p:cNvPr id="173" name="Google Shape;173;p12"/>
          <p:cNvSpPr txBox="1"/>
          <p:nvPr/>
        </p:nvSpPr>
        <p:spPr>
          <a:xfrm>
            <a:off x="372725" y="1018750"/>
            <a:ext cx="7858200" cy="32022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800"/>
              </a:spcBef>
              <a:spcAft>
                <a:spcPts val="0"/>
              </a:spcAft>
              <a:buClr>
                <a:schemeClr val="lt1"/>
              </a:buClr>
              <a:buSzPts val="1800"/>
              <a:buFont typeface="Montserrat"/>
              <a:buChar char="●"/>
            </a:pPr>
            <a:r>
              <a:rPr b="0" i="0" lang="ru" sz="1800" u="none" cap="none" strike="noStrike">
                <a:solidFill>
                  <a:schemeClr val="lt1"/>
                </a:solidFill>
                <a:latin typeface="Montserrat"/>
                <a:ea typeface="Montserrat"/>
                <a:cs typeface="Montserrat"/>
                <a:sym typeface="Montserrat"/>
              </a:rPr>
              <a:t>Риск/ограничение. Решение.</a:t>
            </a:r>
            <a:endParaRPr b="0" i="0" sz="1800" u="none" cap="none" strike="noStrike">
              <a:solidFill>
                <a:schemeClr val="lt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lt1"/>
              </a:buClr>
              <a:buSzPts val="1800"/>
              <a:buFont typeface="Montserrat"/>
              <a:buChar char="●"/>
            </a:pPr>
            <a:r>
              <a:rPr b="0" i="0" lang="ru" sz="1800" u="none" cap="none" strike="noStrike">
                <a:solidFill>
                  <a:schemeClr val="lt1"/>
                </a:solidFill>
                <a:latin typeface="Montserrat"/>
                <a:ea typeface="Montserrat"/>
                <a:cs typeface="Montserrat"/>
                <a:sym typeface="Montserrat"/>
              </a:rPr>
              <a:t>Риск/ограничение. Решение.</a:t>
            </a:r>
            <a:endParaRPr b="0" i="0" sz="1800" u="none" cap="none" strike="noStrike">
              <a:solidFill>
                <a:schemeClr val="lt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lt1"/>
              </a:buClr>
              <a:buSzPts val="1800"/>
              <a:buFont typeface="Montserrat"/>
              <a:buChar char="●"/>
            </a:pPr>
            <a:r>
              <a:rPr b="0" i="0" lang="ru" sz="1800" u="none" cap="none" strike="noStrike">
                <a:solidFill>
                  <a:schemeClr val="lt1"/>
                </a:solidFill>
                <a:latin typeface="Montserrat"/>
                <a:ea typeface="Montserrat"/>
                <a:cs typeface="Montserrat"/>
                <a:sym typeface="Montserrat"/>
              </a:rPr>
              <a:t>Риск/ограничение. Решение.</a:t>
            </a:r>
            <a:endParaRPr b="0" i="0" sz="1800" u="none" cap="none" strike="noStrike">
              <a:solidFill>
                <a:schemeClr val="lt1"/>
              </a:solidFill>
              <a:latin typeface="Montserrat"/>
              <a:ea typeface="Montserrat"/>
              <a:cs typeface="Montserrat"/>
              <a:sym typeface="Montserrat"/>
            </a:endParaRPr>
          </a:p>
          <a:p>
            <a:pPr indent="0" lvl="0" marL="0" marR="0" rtl="0" algn="l">
              <a:lnSpc>
                <a:spcPct val="115000"/>
              </a:lnSpc>
              <a:spcBef>
                <a:spcPts val="1800"/>
              </a:spcBef>
              <a:spcAft>
                <a:spcPts val="0"/>
              </a:spcAft>
              <a:buClr>
                <a:schemeClr val="dk1"/>
              </a:buClr>
              <a:buSzPts val="1100"/>
              <a:buFont typeface="Arial"/>
              <a:buNone/>
            </a:pPr>
            <a:r>
              <a:rPr b="0" i="0" lang="ru" sz="1800" u="none" cap="none" strike="noStrike">
                <a:solidFill>
                  <a:schemeClr val="lt1"/>
                </a:solidFill>
                <a:latin typeface="Montserrat"/>
                <a:ea typeface="Montserrat"/>
                <a:cs typeface="Montserrat"/>
                <a:sym typeface="Montserrat"/>
              </a:rPr>
              <a:t>* </a:t>
            </a:r>
            <a:r>
              <a:rPr b="0" i="1" lang="ru" sz="1800" u="none" cap="none" strike="noStrike">
                <a:solidFill>
                  <a:schemeClr val="lt1"/>
                </a:solidFill>
                <a:latin typeface="Montserrat"/>
                <a:ea typeface="Montserrat"/>
                <a:cs typeface="Montserrat"/>
                <a:sym typeface="Montserrat"/>
              </a:rPr>
              <a:t>опциональный слайд для тех, кто обнаружил проблемы в ходе организации эмпирической части исследования</a:t>
            </a:r>
            <a:endParaRPr b="0" i="1" sz="1800" u="none" cap="none" strike="noStrike">
              <a:solidFill>
                <a:schemeClr val="lt1"/>
              </a:solidFill>
              <a:latin typeface="Montserrat"/>
              <a:ea typeface="Montserrat"/>
              <a:cs typeface="Montserrat"/>
              <a:sym typeface="Montserrat"/>
            </a:endParaRPr>
          </a:p>
          <a:p>
            <a:pPr indent="0" lvl="0" marL="457200" marR="0" rtl="0" algn="l">
              <a:lnSpc>
                <a:spcPct val="115000"/>
              </a:lnSpc>
              <a:spcBef>
                <a:spcPts val="1800"/>
              </a:spcBef>
              <a:spcAft>
                <a:spcPts val="0"/>
              </a:spcAft>
              <a:buClr>
                <a:schemeClr val="dk1"/>
              </a:buClr>
              <a:buSzPts val="1100"/>
              <a:buFont typeface="Arial"/>
              <a:buNone/>
            </a:pPr>
            <a:r>
              <a:t/>
            </a:r>
            <a:endParaRPr b="0" i="0" sz="2000" u="none" cap="none" strike="noStrike">
              <a:solidFill>
                <a:schemeClr val="lt1"/>
              </a:solidFill>
              <a:latin typeface="Montserrat"/>
              <a:ea typeface="Montserrat"/>
              <a:cs typeface="Montserrat"/>
              <a:sym typeface="Montserrat"/>
            </a:endParaRPr>
          </a:p>
          <a:p>
            <a:pPr indent="0" lvl="0" marL="457200" marR="0" rtl="0" algn="l">
              <a:lnSpc>
                <a:spcPct val="115000"/>
              </a:lnSpc>
              <a:spcBef>
                <a:spcPts val="1800"/>
              </a:spcBef>
              <a:spcAft>
                <a:spcPts val="0"/>
              </a:spcAft>
              <a:buClr>
                <a:schemeClr val="dk1"/>
              </a:buClr>
              <a:buSzPts val="1100"/>
              <a:buFont typeface="Arial"/>
              <a:buNone/>
            </a:pPr>
            <a:r>
              <a:t/>
            </a:r>
            <a:endParaRPr b="0" i="0" sz="2000" u="none" cap="none" strike="noStrike">
              <a:solidFill>
                <a:schemeClr val="lt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t/>
            </a:r>
            <a:endParaRPr b="0" i="0" sz="18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sp>
        <p:nvSpPr>
          <p:cNvPr id="178" name="Google Shape;178;p14"/>
          <p:cNvSpPr txBox="1"/>
          <p:nvPr/>
        </p:nvSpPr>
        <p:spPr>
          <a:xfrm>
            <a:off x="364675" y="965225"/>
            <a:ext cx="7679100" cy="31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400"/>
              <a:buFont typeface="Arial"/>
              <a:buNone/>
            </a:pPr>
            <a:r>
              <a:rPr b="0" i="0" lang="ru" sz="2400" u="sng" cap="none" strike="noStrike">
                <a:solidFill>
                  <a:srgbClr val="123194"/>
                </a:solidFill>
                <a:latin typeface="Montserrat"/>
                <a:ea typeface="Montserrat"/>
                <a:cs typeface="Montserrat"/>
                <a:sym typeface="Montserrat"/>
              </a:rPr>
              <a:t>Ссылка на демо/визуализации/модели</a:t>
            </a:r>
            <a:endParaRPr b="0" i="0" sz="2400" u="sng" cap="none" strike="noStrike">
              <a:solidFill>
                <a:srgbClr val="123194"/>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400"/>
              <a:buFont typeface="Arial"/>
              <a:buNone/>
            </a:pPr>
            <a:r>
              <a:rPr b="0" i="1" lang="ru" sz="1400" u="none" cap="none" strike="noStrike">
                <a:solidFill>
                  <a:srgbClr val="000000"/>
                </a:solidFill>
                <a:latin typeface="Montserrat"/>
                <a:ea typeface="Montserrat"/>
                <a:cs typeface="Montserrat"/>
                <a:sym typeface="Montserrat"/>
              </a:rPr>
              <a:t>при необходимости</a:t>
            </a:r>
            <a:endParaRPr b="0" i="1" sz="1400" u="none" cap="none" strike="noStrike">
              <a:solidFill>
                <a:srgbClr val="000000"/>
              </a:solidFill>
              <a:latin typeface="Montserrat"/>
              <a:ea typeface="Montserrat"/>
              <a:cs typeface="Montserrat"/>
              <a:sym typeface="Montserrat"/>
            </a:endParaRPr>
          </a:p>
        </p:txBody>
      </p:sp>
      <p:pic>
        <p:nvPicPr>
          <p:cNvPr id="179" name="Google Shape;179;p14"/>
          <p:cNvPicPr preferRelativeResize="0"/>
          <p:nvPr/>
        </p:nvPicPr>
        <p:blipFill rotWithShape="1">
          <a:blip r:embed="rId3">
            <a:alphaModFix/>
          </a:blip>
          <a:srcRect b="0" l="0" r="0" t="0"/>
          <a:stretch/>
        </p:blipFill>
        <p:spPr>
          <a:xfrm>
            <a:off x="388628" y="156412"/>
            <a:ext cx="847909" cy="415398"/>
          </a:xfrm>
          <a:prstGeom prst="rect">
            <a:avLst/>
          </a:prstGeom>
          <a:noFill/>
          <a:ln>
            <a:noFill/>
          </a:ln>
        </p:spPr>
      </p:pic>
      <p:pic>
        <p:nvPicPr>
          <p:cNvPr id="180" name="Google Shape;180;p14"/>
          <p:cNvPicPr preferRelativeResize="0"/>
          <p:nvPr/>
        </p:nvPicPr>
        <p:blipFill rotWithShape="1">
          <a:blip r:embed="rId4">
            <a:alphaModFix/>
          </a:blip>
          <a:srcRect b="0" l="0" r="0" t="0"/>
          <a:stretch/>
        </p:blipFill>
        <p:spPr>
          <a:xfrm>
            <a:off x="6665831" y="3409088"/>
            <a:ext cx="2038350" cy="1628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6"/>
          <p:cNvSpPr txBox="1"/>
          <p:nvPr/>
        </p:nvSpPr>
        <p:spPr>
          <a:xfrm>
            <a:off x="340866"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Список ключевых источников</a:t>
            </a:r>
            <a:endParaRPr b="1" i="0" sz="2800" u="none" cap="none" strike="noStrike">
              <a:solidFill>
                <a:schemeClr val="lt1"/>
              </a:solidFill>
              <a:latin typeface="Montserrat"/>
              <a:ea typeface="Montserrat"/>
              <a:cs typeface="Montserrat"/>
              <a:sym typeface="Montserrat"/>
            </a:endParaRPr>
          </a:p>
        </p:txBody>
      </p:sp>
      <p:sp>
        <p:nvSpPr>
          <p:cNvPr id="187" name="Google Shape;187;p16"/>
          <p:cNvSpPr txBox="1"/>
          <p:nvPr/>
        </p:nvSpPr>
        <p:spPr>
          <a:xfrm>
            <a:off x="364800" y="1073700"/>
            <a:ext cx="8167800" cy="4234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Подходы к извлечению знаний в научных предметных областях (https://istina.msu.ru/publications/article/330019647/)</a:t>
            </a:r>
            <a:endParaRPr>
              <a:solidFill>
                <a:schemeClr val="lt1"/>
              </a:solidFill>
              <a:latin typeface="Montserrat"/>
              <a:ea typeface="Montserrat"/>
              <a:cs typeface="Montserrat"/>
              <a:sym typeface="Montserrat"/>
            </a:endParaRPr>
          </a:p>
          <a:p>
            <a:pPr indent="-317500" lvl="0" marL="45720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Поиск документов по формулам (https://www.keldysh.ru/abrau/2022/theses/7.pdf)</a:t>
            </a:r>
            <a:endParaRPr>
              <a:solidFill>
                <a:schemeClr val="lt1"/>
              </a:solidFill>
              <a:latin typeface="Montserrat"/>
              <a:ea typeface="Montserrat"/>
              <a:cs typeface="Montserrat"/>
              <a:sym typeface="Montserrat"/>
            </a:endParaRPr>
          </a:p>
          <a:p>
            <a:pPr indent="-317500" lvl="0" marL="45720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Индекс подобия математических и других научных публикаций с уравнениями и формулами и проблема идентификации самоплагиата (https://mmcm.bmstu.ru/articles/253/)</a:t>
            </a:r>
            <a:endParaRPr>
              <a:solidFill>
                <a:schemeClr val="lt1"/>
              </a:solidFill>
              <a:latin typeface="Montserrat"/>
              <a:ea typeface="Montserrat"/>
              <a:cs typeface="Montserrat"/>
              <a:sym typeface="Montserrat"/>
            </a:endParaRPr>
          </a:p>
          <a:p>
            <a:pPr indent="-317500" lvl="0" marL="45720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Ontology-grounded Automatic Knowledge Graph Construction by LLM under Wikidata schema (https://arxiv.org/abs/2412.20942v1)</a:t>
            </a:r>
            <a:endParaRPr>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Analyzing Similarity in Mathematical Content To Enhance the Detection                      of Academic Plagiarism (https://arxiv.org/abs/1801.08439v1)</a:t>
            </a:r>
            <a:endParaRPr>
              <a:solidFill>
                <a:schemeClr val="lt1"/>
              </a:solidFill>
              <a:latin typeface="Montserrat"/>
              <a:ea typeface="Montserrat"/>
              <a:cs typeface="Montserrat"/>
              <a:sym typeface="Montserrat"/>
            </a:endParaRPr>
          </a:p>
          <a:p>
            <a:pPr indent="-317500" lvl="0" marL="45720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Analyzing Mathematical Content to Detect Academic Plagiarism (https://dl.acm.org/doi/10.1145/3132847.3133144)</a:t>
            </a:r>
            <a:endParaRPr>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a:pPr>
            <a:r>
              <a:rPr lang="ru">
                <a:solidFill>
                  <a:schemeClr val="lt1"/>
                </a:solidFill>
                <a:latin typeface="Montserrat"/>
                <a:ea typeface="Montserrat"/>
                <a:cs typeface="Montserrat"/>
                <a:sym typeface="Montserrat"/>
              </a:rPr>
              <a:t>Mathematical Information Retrieval (https://arxiv.org/abs/2408.11646v1)</a:t>
            </a:r>
            <a:endParaRPr b="0" i="0" sz="1400" u="none" cap="none" strike="noStrike">
              <a:solidFill>
                <a:schemeClr val="lt1"/>
              </a:solidFill>
              <a:latin typeface="Montserrat"/>
              <a:ea typeface="Montserrat"/>
              <a:cs typeface="Montserrat"/>
              <a:sym typeface="Montserrat"/>
            </a:endParaRPr>
          </a:p>
        </p:txBody>
      </p:sp>
      <p:pic>
        <p:nvPicPr>
          <p:cNvPr id="188" name="Google Shape;188;p16"/>
          <p:cNvPicPr preferRelativeResize="0"/>
          <p:nvPr/>
        </p:nvPicPr>
        <p:blipFill rotWithShape="1">
          <a:blip r:embed="rId3">
            <a:alphaModFix/>
          </a:blip>
          <a:srcRect b="0" l="0" r="0" t="0"/>
          <a:stretch/>
        </p:blipFill>
        <p:spPr>
          <a:xfrm>
            <a:off x="7287924" y="3261900"/>
            <a:ext cx="1456125" cy="1773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sp>
        <p:nvSpPr>
          <p:cNvPr id="193" name="Google Shape;193;p17"/>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7"/>
          <p:cNvSpPr txBox="1"/>
          <p:nvPr/>
        </p:nvSpPr>
        <p:spPr>
          <a:xfrm>
            <a:off x="340866"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Список ключевых источников</a:t>
            </a:r>
            <a:endParaRPr b="1" i="0" sz="2800" u="none" cap="none" strike="noStrike">
              <a:solidFill>
                <a:schemeClr val="lt1"/>
              </a:solidFill>
              <a:latin typeface="Montserrat"/>
              <a:ea typeface="Montserrat"/>
              <a:cs typeface="Montserrat"/>
              <a:sym typeface="Montserrat"/>
            </a:endParaRPr>
          </a:p>
        </p:txBody>
      </p:sp>
      <p:sp>
        <p:nvSpPr>
          <p:cNvPr id="195" name="Google Shape;195;p17"/>
          <p:cNvSpPr txBox="1"/>
          <p:nvPr/>
        </p:nvSpPr>
        <p:spPr>
          <a:xfrm>
            <a:off x="364789" y="1073694"/>
            <a:ext cx="8167800" cy="35001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 </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317500" lvl="0" marL="457200" marR="0" rtl="0" algn="l">
              <a:lnSpc>
                <a:spcPct val="115000"/>
              </a:lnSpc>
              <a:spcBef>
                <a:spcPts val="700"/>
              </a:spcBef>
              <a:spcAft>
                <a:spcPts val="0"/>
              </a:spcAft>
              <a:buClr>
                <a:schemeClr val="lt1"/>
              </a:buClr>
              <a:buSzPts val="1400"/>
              <a:buFont typeface="Montserrat"/>
              <a:buAutoNum type="arabicPeriod" startAt="11"/>
            </a:pPr>
            <a:r>
              <a:rPr b="0" i="0" lang="ru" sz="1400" u="none" cap="none" strike="noStrike">
                <a:solidFill>
                  <a:schemeClr val="lt1"/>
                </a:solidFill>
                <a:latin typeface="Montserrat"/>
                <a:ea typeface="Montserrat"/>
                <a:cs typeface="Montserrat"/>
                <a:sym typeface="Montserrat"/>
              </a:rPr>
              <a:t>Список</a:t>
            </a:r>
            <a:endParaRPr b="0" i="0" sz="1400" u="none" cap="none" strike="noStrike">
              <a:solidFill>
                <a:schemeClr val="lt1"/>
              </a:solidFill>
              <a:latin typeface="Montserrat"/>
              <a:ea typeface="Montserrat"/>
              <a:cs typeface="Montserrat"/>
              <a:sym typeface="Montserrat"/>
            </a:endParaRPr>
          </a:p>
          <a:p>
            <a:pPr indent="0" lvl="0" marL="0" marR="0" rtl="0" algn="l">
              <a:lnSpc>
                <a:spcPct val="115000"/>
              </a:lnSpc>
              <a:spcBef>
                <a:spcPts val="700"/>
              </a:spcBef>
              <a:spcAft>
                <a:spcPts val="0"/>
              </a:spcAft>
              <a:buClr>
                <a:srgbClr val="000000"/>
              </a:buClr>
              <a:buSzPts val="1400"/>
              <a:buFont typeface="Arial"/>
              <a:buNone/>
            </a:pPr>
            <a:r>
              <a:t/>
            </a:r>
            <a:endParaRPr b="0" i="0" sz="1400" u="none" cap="none" strike="noStrike">
              <a:solidFill>
                <a:schemeClr val="lt1"/>
              </a:solidFill>
              <a:latin typeface="Montserrat"/>
              <a:ea typeface="Montserrat"/>
              <a:cs typeface="Montserrat"/>
              <a:sym typeface="Montserrat"/>
            </a:endParaRPr>
          </a:p>
        </p:txBody>
      </p:sp>
      <p:pic>
        <p:nvPicPr>
          <p:cNvPr id="196" name="Google Shape;196;p17"/>
          <p:cNvPicPr preferRelativeResize="0"/>
          <p:nvPr/>
        </p:nvPicPr>
        <p:blipFill rotWithShape="1">
          <a:blip r:embed="rId3">
            <a:alphaModFix/>
          </a:blip>
          <a:srcRect b="0" l="0" r="0" t="0"/>
          <a:stretch/>
        </p:blipFill>
        <p:spPr>
          <a:xfrm>
            <a:off x="7287924" y="3261900"/>
            <a:ext cx="1456125" cy="1773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2" name="Google Shape;202;p18"/>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pic>
        <p:nvPicPr>
          <p:cNvPr id="203" name="Google Shape;203;p18"/>
          <p:cNvPicPr preferRelativeResize="0"/>
          <p:nvPr/>
        </p:nvPicPr>
        <p:blipFill rotWithShape="1">
          <a:blip r:embed="rId4">
            <a:alphaModFix/>
          </a:blip>
          <a:srcRect b="36008" l="0" r="47182" t="0"/>
          <a:stretch/>
        </p:blipFill>
        <p:spPr>
          <a:xfrm>
            <a:off x="4816900" y="266775"/>
            <a:ext cx="4183099" cy="4787126"/>
          </a:xfrm>
          <a:prstGeom prst="rect">
            <a:avLst/>
          </a:prstGeom>
          <a:noFill/>
          <a:ln>
            <a:noFill/>
          </a:ln>
        </p:spPr>
      </p:pic>
      <p:sp>
        <p:nvSpPr>
          <p:cNvPr id="204" name="Google Shape;204;p18"/>
          <p:cNvSpPr txBox="1"/>
          <p:nvPr/>
        </p:nvSpPr>
        <p:spPr>
          <a:xfrm>
            <a:off x="315779" y="380733"/>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Спасибо</a:t>
            </a:r>
            <a:endParaRPr b="1" i="0" sz="5700" u="none" cap="none" strike="noStrike">
              <a:solidFill>
                <a:schemeClr val="lt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за внимание!</a:t>
            </a:r>
            <a:endParaRPr b="1" i="0" sz="57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8" name="Shape 208"/>
        <p:cNvGrpSpPr/>
        <p:nvPr/>
      </p:nvGrpSpPr>
      <p:grpSpPr>
        <a:xfrm>
          <a:off x="0" y="0"/>
          <a:ext cx="0" cy="0"/>
          <a:chOff x="0" y="0"/>
          <a:chExt cx="0" cy="0"/>
        </a:xfrm>
      </p:grpSpPr>
      <p:sp>
        <p:nvSpPr>
          <p:cNvPr id="209" name="Google Shape;209;p19"/>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9"/>
          <p:cNvSpPr txBox="1"/>
          <p:nvPr/>
        </p:nvSpPr>
        <p:spPr>
          <a:xfrm>
            <a:off x="826349" y="985035"/>
            <a:ext cx="7347300" cy="114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Дополнительные слайды для оформления</a:t>
            </a:r>
            <a:endParaRPr b="1" i="0" sz="5700" u="none" cap="none" strike="noStrike">
              <a:solidFill>
                <a:schemeClr val="lt1"/>
              </a:solidFill>
              <a:latin typeface="Montserrat"/>
              <a:ea typeface="Montserrat"/>
              <a:cs typeface="Montserrat"/>
              <a:sym typeface="Montserrat"/>
            </a:endParaRPr>
          </a:p>
        </p:txBody>
      </p:sp>
      <p:pic>
        <p:nvPicPr>
          <p:cNvPr id="211" name="Google Shape;211;p19"/>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pic>
        <p:nvPicPr>
          <p:cNvPr id="216" name="Google Shape;216;p2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17" name="Google Shape;217;p20"/>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18" name="Google Shape;218;p20"/>
          <p:cNvSpPr txBox="1"/>
          <p:nvPr/>
        </p:nvSpPr>
        <p:spPr>
          <a:xfrm>
            <a:off x="372358" y="985577"/>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lang="ru" sz="1800">
                <a:solidFill>
                  <a:schemeClr val="dk1"/>
                </a:solidFill>
                <a:latin typeface="Montserrat"/>
                <a:ea typeface="Montserrat"/>
                <a:cs typeface="Montserrat"/>
                <a:sym typeface="Montserrat"/>
              </a:rPr>
              <a:t>Текущие системы неспособны корректно различать математические формулы (например, $y = a + bx^2$ и $y = a + bx -1/2$ неразличимы для системы iThenticate)</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0" lang="ru" sz="1800" u="sng" cap="none" strike="noStrike">
                <a:solidFill>
                  <a:srgbClr val="123194"/>
                </a:solidFill>
                <a:latin typeface="Montserrat"/>
                <a:ea typeface="Montserrat"/>
                <a:cs typeface="Montserrat"/>
                <a:sym typeface="Montserrat"/>
                <a:hlinkClick r:id="rId4">
                  <a:extLst>
                    <a:ext uri="{A12FA001-AC4F-418D-AE19-62706E023703}">
                      <ahyp:hlinkClr val="tx"/>
                    </a:ext>
                  </a:extLst>
                </a:hlinkClick>
              </a:rPr>
              <a:t>Ссылка на сторонний ресурс</a:t>
            </a:r>
            <a:endParaRPr b="0" i="0" sz="1800" u="sng" cap="none" strike="noStrike">
              <a:solidFill>
                <a:srgbClr val="123194"/>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p21"/>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24" name="Google Shape;224;p21"/>
          <p:cNvSpPr/>
          <p:nvPr/>
        </p:nvSpPr>
        <p:spPr>
          <a:xfrm>
            <a:off x="459858" y="1152351"/>
            <a:ext cx="8080500" cy="32877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1"/>
          <p:cNvSpPr txBox="1"/>
          <p:nvPr/>
        </p:nvSpPr>
        <p:spPr>
          <a:xfrm>
            <a:off x="2914972" y="2563223"/>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26" name="Google Shape;226;p21"/>
          <p:cNvSpPr txBox="1"/>
          <p:nvPr/>
        </p:nvSpPr>
        <p:spPr>
          <a:xfrm>
            <a:off x="349656" y="4403884"/>
            <a:ext cx="80805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 Источник: </a:t>
            </a:r>
            <a:r>
              <a:rPr b="0" i="0" lang="ru" sz="1400" u="sng" cap="none" strike="noStrike">
                <a:solidFill>
                  <a:srgbClr val="123194"/>
                </a:solidFill>
                <a:latin typeface="Montserrat"/>
                <a:ea typeface="Montserrat"/>
                <a:cs typeface="Montserrat"/>
                <a:sym typeface="Montserrat"/>
                <a:hlinkClick r:id="rId3">
                  <a:extLst>
                    <a:ext uri="{A12FA001-AC4F-418D-AE19-62706E023703}">
                      <ahyp:hlinkClr val="tx"/>
                    </a:ext>
                  </a:extLst>
                </a:hlinkClick>
              </a:rPr>
              <a:t>ya.ru</a:t>
            </a:r>
            <a:endParaRPr b="0" i="0" sz="1400" u="none" cap="none" strike="noStrike">
              <a:solidFill>
                <a:srgbClr val="123194"/>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3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22"/>
          <p:cNvSpPr/>
          <p:nvPr/>
        </p:nvSpPr>
        <p:spPr>
          <a:xfrm>
            <a:off x="459858" y="1152351"/>
            <a:ext cx="3782700" cy="30606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2"/>
          <p:cNvSpPr txBox="1"/>
          <p:nvPr/>
        </p:nvSpPr>
        <p:spPr>
          <a:xfrm>
            <a:off x="849858" y="232016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33" name="Google Shape;233;p22"/>
          <p:cNvSpPr txBox="1"/>
          <p:nvPr/>
        </p:nvSpPr>
        <p:spPr>
          <a:xfrm>
            <a:off x="351300" y="4191975"/>
            <a:ext cx="38913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34" name="Google Shape;234;p22"/>
          <p:cNvSpPr/>
          <p:nvPr/>
        </p:nvSpPr>
        <p:spPr>
          <a:xfrm>
            <a:off x="4754310" y="1152351"/>
            <a:ext cx="3782700" cy="30606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2"/>
          <p:cNvSpPr txBox="1"/>
          <p:nvPr/>
        </p:nvSpPr>
        <p:spPr>
          <a:xfrm>
            <a:off x="5144310" y="232016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36" name="Google Shape;236;p22"/>
          <p:cNvSpPr txBox="1"/>
          <p:nvPr/>
        </p:nvSpPr>
        <p:spPr>
          <a:xfrm>
            <a:off x="4659772" y="4191975"/>
            <a:ext cx="4009500" cy="33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37" name="Google Shape;237;p22"/>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 name="Shape 241"/>
        <p:cNvGrpSpPr/>
        <p:nvPr/>
      </p:nvGrpSpPr>
      <p:grpSpPr>
        <a:xfrm>
          <a:off x="0" y="0"/>
          <a:ext cx="0" cy="0"/>
          <a:chOff x="0" y="0"/>
          <a:chExt cx="0" cy="0"/>
        </a:xfrm>
      </p:grpSpPr>
      <p:sp>
        <p:nvSpPr>
          <p:cNvPr id="242" name="Google Shape;242;p23"/>
          <p:cNvSpPr txBox="1"/>
          <p:nvPr/>
        </p:nvSpPr>
        <p:spPr>
          <a:xfrm>
            <a:off x="368558" y="284065"/>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43" name="Google Shape;243;p23"/>
          <p:cNvSpPr/>
          <p:nvPr/>
        </p:nvSpPr>
        <p:spPr>
          <a:xfrm>
            <a:off x="459858" y="2563223"/>
            <a:ext cx="8080500" cy="18768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3"/>
          <p:cNvSpPr txBox="1"/>
          <p:nvPr/>
        </p:nvSpPr>
        <p:spPr>
          <a:xfrm>
            <a:off x="2914972" y="292780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45" name="Google Shape;245;p23"/>
          <p:cNvSpPr txBox="1"/>
          <p:nvPr/>
        </p:nvSpPr>
        <p:spPr>
          <a:xfrm>
            <a:off x="354822" y="4403884"/>
            <a:ext cx="80805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46" name="Google Shape;246;p23"/>
          <p:cNvSpPr txBox="1"/>
          <p:nvPr/>
        </p:nvSpPr>
        <p:spPr>
          <a:xfrm>
            <a:off x="372350" y="1024947"/>
            <a:ext cx="8167800" cy="16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none" cap="none" strike="noStrike">
                <a:solidFill>
                  <a:srgbClr val="000000"/>
                </a:solidFill>
                <a:latin typeface="Montserrat"/>
                <a:ea typeface="Montserrat"/>
                <a:cs typeface="Montserrat"/>
                <a:sym typeface="Montserrat"/>
              </a:rPr>
              <a:t>Текст </a:t>
            </a: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a:t>
            </a:r>
            <a:r>
              <a:rPr b="0" i="0" lang="ru" sz="2000" u="none" cap="none" strike="noStrike">
                <a:solidFill>
                  <a:schemeClr val="dk1"/>
                </a:solidFill>
                <a:latin typeface="Montserrat"/>
                <a:ea typeface="Montserrat"/>
                <a:cs typeface="Montserrat"/>
                <a:sym typeface="Montserrat"/>
              </a:rPr>
              <a:t> </a:t>
            </a:r>
            <a:endParaRPr b="0" i="0" sz="2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 name="Shape 250"/>
        <p:cNvGrpSpPr/>
        <p:nvPr/>
      </p:nvGrpSpPr>
      <p:grpSpPr>
        <a:xfrm>
          <a:off x="0" y="0"/>
          <a:ext cx="0" cy="0"/>
          <a:chOff x="0" y="0"/>
          <a:chExt cx="0" cy="0"/>
        </a:xfrm>
      </p:grpSpPr>
      <p:pic>
        <p:nvPicPr>
          <p:cNvPr id="251" name="Google Shape;251;p24"/>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52" name="Google Shape;252;p24"/>
          <p:cNvSpPr txBox="1"/>
          <p:nvPr/>
        </p:nvSpPr>
        <p:spPr>
          <a:xfrm>
            <a:off x="368558" y="2820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53" name="Google Shape;253;p24"/>
          <p:cNvSpPr txBox="1"/>
          <p:nvPr/>
        </p:nvSpPr>
        <p:spPr>
          <a:xfrm>
            <a:off x="279593"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Montserrat"/>
              <a:buChar char="●"/>
            </a:pPr>
            <a:r>
              <a:rPr b="0" i="0" lang="ru" sz="1800" u="none" cap="none" strike="noStrike">
                <a:solidFill>
                  <a:srgbClr val="000000"/>
                </a:solidFill>
                <a:latin typeface="Montserrat"/>
                <a:ea typeface="Montserrat"/>
                <a:cs typeface="Montserrat"/>
                <a:sym typeface="Montserrat"/>
              </a:rPr>
              <a:t>Список маркированный</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Список маркированный</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Список маркированный</a:t>
            </a:r>
            <a:endParaRPr b="0" i="0" sz="18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pic>
        <p:nvPicPr>
          <p:cNvPr id="258" name="Google Shape;258;p25"/>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59" name="Google Shape;259;p25"/>
          <p:cNvSpPr txBox="1"/>
          <p:nvPr/>
        </p:nvSpPr>
        <p:spPr>
          <a:xfrm>
            <a:off x="368558" y="28497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60" name="Google Shape;260;p25"/>
          <p:cNvSpPr txBox="1"/>
          <p:nvPr/>
        </p:nvSpPr>
        <p:spPr>
          <a:xfrm>
            <a:off x="365196"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800"/>
              </a:spcBef>
              <a:spcAft>
                <a:spcPts val="0"/>
              </a:spcAft>
              <a:buClr>
                <a:schemeClr val="dk1"/>
              </a:buClr>
              <a:buSzPts val="1800"/>
              <a:buFont typeface="Montserrat"/>
              <a:buAutoNum type="arabicPeriod"/>
            </a:pPr>
            <a:r>
              <a:rPr b="0" i="0" lang="ru" sz="1800" u="none" cap="none" strike="noStrike">
                <a:solidFill>
                  <a:srgbClr val="000000"/>
                </a:solidFill>
                <a:latin typeface="Montserrat"/>
                <a:ea typeface="Montserrat"/>
                <a:cs typeface="Montserrat"/>
                <a:sym typeface="Montserrat"/>
              </a:rPr>
              <a:t>Список нумерованный</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AutoNum type="arabicPeriod"/>
            </a:pPr>
            <a:r>
              <a:rPr b="0" i="0" lang="ru" sz="1800" u="none" cap="none" strike="noStrike">
                <a:solidFill>
                  <a:schemeClr val="dk1"/>
                </a:solidFill>
                <a:latin typeface="Montserrat"/>
                <a:ea typeface="Montserrat"/>
                <a:cs typeface="Montserrat"/>
                <a:sym typeface="Montserrat"/>
              </a:rPr>
              <a:t>Список нумерованный</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1000"/>
              </a:spcAft>
              <a:buClr>
                <a:schemeClr val="dk1"/>
              </a:buClr>
              <a:buSzPts val="1800"/>
              <a:buFont typeface="Montserrat"/>
              <a:buAutoNum type="arabicPeriod"/>
            </a:pPr>
            <a:r>
              <a:rPr b="0" i="0" lang="ru" sz="1800" u="none" cap="none" strike="noStrike">
                <a:solidFill>
                  <a:schemeClr val="dk1"/>
                </a:solidFill>
                <a:latin typeface="Montserrat"/>
                <a:ea typeface="Montserrat"/>
                <a:cs typeface="Montserrat"/>
                <a:sym typeface="Montserrat"/>
              </a:rPr>
              <a:t>Список нумерованный</a:t>
            </a:r>
            <a:endParaRPr b="0" i="0" sz="18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p26"/>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pic>
        <p:nvPicPr>
          <p:cNvPr id="266" name="Google Shape;266;p26" title="Points scored"/>
          <p:cNvPicPr preferRelativeResize="0"/>
          <p:nvPr/>
        </p:nvPicPr>
        <p:blipFill rotWithShape="1">
          <a:blip r:embed="rId3">
            <a:alphaModFix/>
          </a:blip>
          <a:srcRect b="0" l="0" r="0" t="0"/>
          <a:stretch/>
        </p:blipFill>
        <p:spPr>
          <a:xfrm>
            <a:off x="249374" y="562461"/>
            <a:ext cx="6317901" cy="39065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pic>
        <p:nvPicPr>
          <p:cNvPr id="271" name="Google Shape;271;p27" title="Points scored"/>
          <p:cNvPicPr preferRelativeResize="0"/>
          <p:nvPr/>
        </p:nvPicPr>
        <p:blipFill rotWithShape="1">
          <a:blip r:embed="rId3">
            <a:alphaModFix/>
          </a:blip>
          <a:srcRect b="0" l="0" r="0" t="0"/>
          <a:stretch/>
        </p:blipFill>
        <p:spPr>
          <a:xfrm>
            <a:off x="250862" y="555729"/>
            <a:ext cx="6335088" cy="3917176"/>
          </a:xfrm>
          <a:prstGeom prst="rect">
            <a:avLst/>
          </a:prstGeom>
          <a:noFill/>
          <a:ln>
            <a:noFill/>
          </a:ln>
        </p:spPr>
      </p:pic>
      <p:sp>
        <p:nvSpPr>
          <p:cNvPr id="272" name="Google Shape;272;p27"/>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pic>
        <p:nvPicPr>
          <p:cNvPr id="277" name="Google Shape;277;p28" title="Points scored"/>
          <p:cNvPicPr preferRelativeResize="0"/>
          <p:nvPr/>
        </p:nvPicPr>
        <p:blipFill rotWithShape="1">
          <a:blip r:embed="rId3">
            <a:alphaModFix/>
          </a:blip>
          <a:srcRect b="0" l="0" r="0" t="0"/>
          <a:stretch/>
        </p:blipFill>
        <p:spPr>
          <a:xfrm>
            <a:off x="249372" y="574156"/>
            <a:ext cx="6260376" cy="3870981"/>
          </a:xfrm>
          <a:prstGeom prst="rect">
            <a:avLst/>
          </a:prstGeom>
          <a:noFill/>
          <a:ln>
            <a:noFill/>
          </a:ln>
        </p:spPr>
      </p:pic>
      <p:sp>
        <p:nvSpPr>
          <p:cNvPr id="278" name="Google Shape;278;p28"/>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2" name="Shape 282"/>
        <p:cNvGrpSpPr/>
        <p:nvPr/>
      </p:nvGrpSpPr>
      <p:grpSpPr>
        <a:xfrm>
          <a:off x="0" y="0"/>
          <a:ext cx="0" cy="0"/>
          <a:chOff x="0" y="0"/>
          <a:chExt cx="0" cy="0"/>
        </a:xfrm>
      </p:grpSpPr>
      <p:sp>
        <p:nvSpPr>
          <p:cNvPr id="283" name="Google Shape;283;p29"/>
          <p:cNvSpPr txBox="1"/>
          <p:nvPr/>
        </p:nvSpPr>
        <p:spPr>
          <a:xfrm>
            <a:off x="343325" y="736600"/>
            <a:ext cx="73686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000"/>
              <a:buFont typeface="Arial"/>
              <a:buNone/>
            </a:pPr>
            <a:r>
              <a:rPr b="0" i="0" lang="ru" sz="3000" u="none" cap="none" strike="noStrike">
                <a:solidFill>
                  <a:srgbClr val="123194"/>
                </a:solidFill>
                <a:latin typeface="Montserrat"/>
                <a:ea typeface="Montserrat"/>
                <a:cs typeface="Montserrat"/>
                <a:sym typeface="Montserrat"/>
              </a:rPr>
              <a:t>Важная ключевая</a:t>
            </a:r>
            <a:endParaRPr b="0" i="0" sz="3000" u="none" cap="none" strike="noStrike">
              <a:solidFill>
                <a:srgbClr val="123194"/>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3000"/>
              <a:buFont typeface="Arial"/>
              <a:buNone/>
            </a:pPr>
            <a:r>
              <a:rPr b="0" i="0" lang="ru" sz="3000" u="none" cap="none" strike="noStrike">
                <a:solidFill>
                  <a:srgbClr val="123194"/>
                </a:solidFill>
                <a:latin typeface="Montserrat"/>
                <a:ea typeface="Montserrat"/>
                <a:cs typeface="Montserrat"/>
                <a:sym typeface="Montserrat"/>
              </a:rPr>
              <a:t>мысль</a:t>
            </a:r>
            <a:endParaRPr b="0" i="0" sz="3000" u="none" cap="none" strike="noStrike">
              <a:solidFill>
                <a:srgbClr val="123194"/>
              </a:solidFill>
              <a:latin typeface="Montserrat"/>
              <a:ea typeface="Montserrat"/>
              <a:cs typeface="Montserrat"/>
              <a:sym typeface="Montserrat"/>
            </a:endParaRPr>
          </a:p>
        </p:txBody>
      </p:sp>
      <p:pic>
        <p:nvPicPr>
          <p:cNvPr id="284" name="Google Shape;284;p29"/>
          <p:cNvPicPr preferRelativeResize="0"/>
          <p:nvPr/>
        </p:nvPicPr>
        <p:blipFill rotWithShape="1">
          <a:blip r:embed="rId3">
            <a:alphaModFix/>
          </a:blip>
          <a:srcRect b="0" l="0" r="0" t="0"/>
          <a:stretch/>
        </p:blipFill>
        <p:spPr>
          <a:xfrm>
            <a:off x="388628" y="156412"/>
            <a:ext cx="847909" cy="415398"/>
          </a:xfrm>
          <a:prstGeom prst="rect">
            <a:avLst/>
          </a:prstGeom>
          <a:noFill/>
          <a:ln>
            <a:noFill/>
          </a:ln>
        </p:spPr>
      </p:pic>
      <p:pic>
        <p:nvPicPr>
          <p:cNvPr id="285" name="Google Shape;285;p29"/>
          <p:cNvPicPr preferRelativeResize="0"/>
          <p:nvPr/>
        </p:nvPicPr>
        <p:blipFill rotWithShape="1">
          <a:blip r:embed="rId4">
            <a:alphaModFix/>
          </a:blip>
          <a:srcRect b="0" l="0" r="0" t="0"/>
          <a:stretch/>
        </p:blipFill>
        <p:spPr>
          <a:xfrm>
            <a:off x="7517125" y="2220590"/>
            <a:ext cx="1019175" cy="2667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9" name="Shape 289"/>
        <p:cNvGrpSpPr/>
        <p:nvPr/>
      </p:nvGrpSpPr>
      <p:grpSpPr>
        <a:xfrm>
          <a:off x="0" y="0"/>
          <a:ext cx="0" cy="0"/>
          <a:chOff x="0" y="0"/>
          <a:chExt cx="0" cy="0"/>
        </a:xfrm>
      </p:grpSpPr>
      <p:sp>
        <p:nvSpPr>
          <p:cNvPr id="290" name="Google Shape;290;p30"/>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291" name="Google Shape;291;p30"/>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Иконки</a:t>
            </a:r>
            <a:endParaRPr b="1" i="0" sz="2800" u="none" cap="none" strike="noStrike">
              <a:solidFill>
                <a:srgbClr val="123194"/>
              </a:solidFill>
              <a:latin typeface="Montserrat"/>
              <a:ea typeface="Montserrat"/>
              <a:cs typeface="Montserrat"/>
              <a:sym typeface="Montserrat"/>
            </a:endParaRPr>
          </a:p>
        </p:txBody>
      </p:sp>
      <p:pic>
        <p:nvPicPr>
          <p:cNvPr id="292" name="Google Shape;292;p30"/>
          <p:cNvPicPr preferRelativeResize="0"/>
          <p:nvPr/>
        </p:nvPicPr>
        <p:blipFill rotWithShape="1">
          <a:blip r:embed="rId3">
            <a:alphaModFix/>
          </a:blip>
          <a:srcRect b="0" l="0" r="0" t="0"/>
          <a:stretch/>
        </p:blipFill>
        <p:spPr>
          <a:xfrm>
            <a:off x="348539" y="559562"/>
            <a:ext cx="1685925" cy="2924175"/>
          </a:xfrm>
          <a:prstGeom prst="rect">
            <a:avLst/>
          </a:prstGeom>
          <a:noFill/>
          <a:ln>
            <a:noFill/>
          </a:ln>
        </p:spPr>
      </p:pic>
      <p:pic>
        <p:nvPicPr>
          <p:cNvPr id="293" name="Google Shape;293;p30"/>
          <p:cNvPicPr preferRelativeResize="0"/>
          <p:nvPr/>
        </p:nvPicPr>
        <p:blipFill rotWithShape="1">
          <a:blip r:embed="rId4">
            <a:alphaModFix/>
          </a:blip>
          <a:srcRect b="0" l="0" r="0" t="0"/>
          <a:stretch/>
        </p:blipFill>
        <p:spPr>
          <a:xfrm>
            <a:off x="1979281" y="638012"/>
            <a:ext cx="1752600" cy="2009775"/>
          </a:xfrm>
          <a:prstGeom prst="rect">
            <a:avLst/>
          </a:prstGeom>
          <a:noFill/>
          <a:ln>
            <a:noFill/>
          </a:ln>
        </p:spPr>
      </p:pic>
      <p:pic>
        <p:nvPicPr>
          <p:cNvPr id="294" name="Google Shape;294;p30"/>
          <p:cNvPicPr preferRelativeResize="0"/>
          <p:nvPr/>
        </p:nvPicPr>
        <p:blipFill rotWithShape="1">
          <a:blip r:embed="rId5">
            <a:alphaModFix/>
          </a:blip>
          <a:srcRect b="0" l="0" r="0" t="0"/>
          <a:stretch/>
        </p:blipFill>
        <p:spPr>
          <a:xfrm>
            <a:off x="2312069" y="2408849"/>
            <a:ext cx="1619250" cy="1971675"/>
          </a:xfrm>
          <a:prstGeom prst="rect">
            <a:avLst/>
          </a:prstGeom>
          <a:noFill/>
          <a:ln>
            <a:noFill/>
          </a:ln>
        </p:spPr>
      </p:pic>
      <p:pic>
        <p:nvPicPr>
          <p:cNvPr id="295" name="Google Shape;295;p30"/>
          <p:cNvPicPr preferRelativeResize="0"/>
          <p:nvPr/>
        </p:nvPicPr>
        <p:blipFill rotWithShape="1">
          <a:blip r:embed="rId6">
            <a:alphaModFix/>
          </a:blip>
          <a:srcRect b="0" l="0" r="0" t="0"/>
          <a:stretch/>
        </p:blipFill>
        <p:spPr>
          <a:xfrm>
            <a:off x="3829081" y="696899"/>
            <a:ext cx="1838325" cy="1381125"/>
          </a:xfrm>
          <a:prstGeom prst="rect">
            <a:avLst/>
          </a:prstGeom>
          <a:noFill/>
          <a:ln>
            <a:noFill/>
          </a:ln>
        </p:spPr>
      </p:pic>
      <p:pic>
        <p:nvPicPr>
          <p:cNvPr id="296" name="Google Shape;296;p30"/>
          <p:cNvPicPr preferRelativeResize="0"/>
          <p:nvPr/>
        </p:nvPicPr>
        <p:blipFill rotWithShape="1">
          <a:blip r:embed="rId7">
            <a:alphaModFix/>
          </a:blip>
          <a:srcRect b="0" l="0" r="0" t="0"/>
          <a:stretch/>
        </p:blipFill>
        <p:spPr>
          <a:xfrm>
            <a:off x="6863756" y="635762"/>
            <a:ext cx="1828800" cy="4152900"/>
          </a:xfrm>
          <a:prstGeom prst="rect">
            <a:avLst/>
          </a:prstGeom>
          <a:noFill/>
          <a:ln>
            <a:noFill/>
          </a:ln>
        </p:spPr>
      </p:pic>
      <p:pic>
        <p:nvPicPr>
          <p:cNvPr id="297" name="Google Shape;297;p30"/>
          <p:cNvPicPr preferRelativeResize="0"/>
          <p:nvPr/>
        </p:nvPicPr>
        <p:blipFill rotWithShape="1">
          <a:blip r:embed="rId8">
            <a:alphaModFix/>
          </a:blip>
          <a:srcRect b="0" l="0" r="0" t="0"/>
          <a:stretch/>
        </p:blipFill>
        <p:spPr>
          <a:xfrm>
            <a:off x="459856" y="3220363"/>
            <a:ext cx="2038350" cy="1628775"/>
          </a:xfrm>
          <a:prstGeom prst="rect">
            <a:avLst/>
          </a:prstGeom>
          <a:noFill/>
          <a:ln>
            <a:noFill/>
          </a:ln>
        </p:spPr>
      </p:pic>
      <p:pic>
        <p:nvPicPr>
          <p:cNvPr id="298" name="Google Shape;298;p30"/>
          <p:cNvPicPr preferRelativeResize="0"/>
          <p:nvPr/>
        </p:nvPicPr>
        <p:blipFill rotWithShape="1">
          <a:blip r:embed="rId9">
            <a:alphaModFix/>
          </a:blip>
          <a:srcRect b="0" l="0" r="0" t="0"/>
          <a:stretch/>
        </p:blipFill>
        <p:spPr>
          <a:xfrm>
            <a:off x="3897381" y="2664587"/>
            <a:ext cx="1876425" cy="2124075"/>
          </a:xfrm>
          <a:prstGeom prst="rect">
            <a:avLst/>
          </a:prstGeom>
          <a:noFill/>
          <a:ln>
            <a:noFill/>
          </a:ln>
        </p:spPr>
      </p:pic>
      <p:pic>
        <p:nvPicPr>
          <p:cNvPr id="299" name="Google Shape;299;p30"/>
          <p:cNvPicPr preferRelativeResize="0"/>
          <p:nvPr/>
        </p:nvPicPr>
        <p:blipFill rotWithShape="1">
          <a:blip r:embed="rId10">
            <a:alphaModFix/>
          </a:blip>
          <a:srcRect b="0" l="0" r="0" t="0"/>
          <a:stretch/>
        </p:blipFill>
        <p:spPr>
          <a:xfrm>
            <a:off x="5892251" y="847550"/>
            <a:ext cx="1019175" cy="2667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sp>
        <p:nvSpPr>
          <p:cNvPr id="304" name="Google Shape;304;p31"/>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05" name="Google Shape;305;p31"/>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Иконки</a:t>
            </a:r>
            <a:endParaRPr b="1" i="0" sz="2800" u="none" cap="none" strike="noStrike">
              <a:solidFill>
                <a:srgbClr val="123194"/>
              </a:solidFill>
              <a:latin typeface="Montserrat"/>
              <a:ea typeface="Montserrat"/>
              <a:cs typeface="Montserrat"/>
              <a:sym typeface="Montserrat"/>
            </a:endParaRPr>
          </a:p>
        </p:txBody>
      </p:sp>
      <p:pic>
        <p:nvPicPr>
          <p:cNvPr id="306" name="Google Shape;306;p31"/>
          <p:cNvPicPr preferRelativeResize="0"/>
          <p:nvPr/>
        </p:nvPicPr>
        <p:blipFill rotWithShape="1">
          <a:blip r:embed="rId3">
            <a:alphaModFix/>
          </a:blip>
          <a:srcRect b="0" l="0" r="0" t="0"/>
          <a:stretch/>
        </p:blipFill>
        <p:spPr>
          <a:xfrm>
            <a:off x="405338" y="685434"/>
            <a:ext cx="1790700" cy="2190750"/>
          </a:xfrm>
          <a:prstGeom prst="rect">
            <a:avLst/>
          </a:prstGeom>
          <a:noFill/>
          <a:ln>
            <a:noFill/>
          </a:ln>
        </p:spPr>
      </p:pic>
      <p:pic>
        <p:nvPicPr>
          <p:cNvPr id="307" name="Google Shape;307;p31"/>
          <p:cNvPicPr preferRelativeResize="0"/>
          <p:nvPr/>
        </p:nvPicPr>
        <p:blipFill rotWithShape="1">
          <a:blip r:embed="rId4">
            <a:alphaModFix/>
          </a:blip>
          <a:srcRect b="0" l="1162" r="1159" t="0"/>
          <a:stretch/>
        </p:blipFill>
        <p:spPr>
          <a:xfrm>
            <a:off x="6028626" y="1997451"/>
            <a:ext cx="2428875" cy="2387574"/>
          </a:xfrm>
          <a:prstGeom prst="rect">
            <a:avLst/>
          </a:prstGeom>
          <a:noFill/>
          <a:ln>
            <a:noFill/>
          </a:ln>
        </p:spPr>
      </p:pic>
      <p:pic>
        <p:nvPicPr>
          <p:cNvPr id="308" name="Google Shape;308;p31"/>
          <p:cNvPicPr preferRelativeResize="0"/>
          <p:nvPr/>
        </p:nvPicPr>
        <p:blipFill rotWithShape="1">
          <a:blip r:embed="rId5">
            <a:alphaModFix/>
          </a:blip>
          <a:srcRect b="0" l="0" r="0" t="0"/>
          <a:stretch/>
        </p:blipFill>
        <p:spPr>
          <a:xfrm>
            <a:off x="1851089" y="1828600"/>
            <a:ext cx="2352675" cy="2495550"/>
          </a:xfrm>
          <a:prstGeom prst="rect">
            <a:avLst/>
          </a:prstGeom>
          <a:noFill/>
          <a:ln>
            <a:noFill/>
          </a:ln>
        </p:spPr>
      </p:pic>
      <p:pic>
        <p:nvPicPr>
          <p:cNvPr id="309" name="Google Shape;309;p31"/>
          <p:cNvPicPr preferRelativeResize="0"/>
          <p:nvPr/>
        </p:nvPicPr>
        <p:blipFill rotWithShape="1">
          <a:blip r:embed="rId6">
            <a:alphaModFix/>
          </a:blip>
          <a:srcRect b="0" l="0" r="0" t="0"/>
          <a:stretch/>
        </p:blipFill>
        <p:spPr>
          <a:xfrm>
            <a:off x="4024989" y="685413"/>
            <a:ext cx="2428875" cy="24860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p32"/>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15" name="Google Shape;315;p32"/>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2"/>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Иконки</a:t>
            </a:r>
            <a:endParaRPr b="1" i="0" sz="2800" u="none" cap="none" strike="noStrike">
              <a:solidFill>
                <a:schemeClr val="lt1"/>
              </a:solidFill>
              <a:latin typeface="Montserrat"/>
              <a:ea typeface="Montserrat"/>
              <a:cs typeface="Montserrat"/>
              <a:sym typeface="Montserrat"/>
            </a:endParaRPr>
          </a:p>
        </p:txBody>
      </p:sp>
      <p:pic>
        <p:nvPicPr>
          <p:cNvPr id="317" name="Google Shape;317;p32"/>
          <p:cNvPicPr preferRelativeResize="0"/>
          <p:nvPr/>
        </p:nvPicPr>
        <p:blipFill rotWithShape="1">
          <a:blip r:embed="rId3">
            <a:alphaModFix/>
          </a:blip>
          <a:srcRect b="0" l="0" r="0" t="0"/>
          <a:stretch/>
        </p:blipFill>
        <p:spPr>
          <a:xfrm>
            <a:off x="348539" y="559562"/>
            <a:ext cx="1685925" cy="2924175"/>
          </a:xfrm>
          <a:prstGeom prst="rect">
            <a:avLst/>
          </a:prstGeom>
          <a:noFill/>
          <a:ln>
            <a:noFill/>
          </a:ln>
        </p:spPr>
      </p:pic>
      <p:pic>
        <p:nvPicPr>
          <p:cNvPr id="318" name="Google Shape;318;p32"/>
          <p:cNvPicPr preferRelativeResize="0"/>
          <p:nvPr/>
        </p:nvPicPr>
        <p:blipFill rotWithShape="1">
          <a:blip r:embed="rId4">
            <a:alphaModFix/>
          </a:blip>
          <a:srcRect b="0" l="0" r="0" t="0"/>
          <a:stretch/>
        </p:blipFill>
        <p:spPr>
          <a:xfrm>
            <a:off x="1979281" y="638012"/>
            <a:ext cx="1752600" cy="2009775"/>
          </a:xfrm>
          <a:prstGeom prst="rect">
            <a:avLst/>
          </a:prstGeom>
          <a:noFill/>
          <a:ln>
            <a:noFill/>
          </a:ln>
        </p:spPr>
      </p:pic>
      <p:pic>
        <p:nvPicPr>
          <p:cNvPr id="319" name="Google Shape;319;p32"/>
          <p:cNvPicPr preferRelativeResize="0"/>
          <p:nvPr/>
        </p:nvPicPr>
        <p:blipFill rotWithShape="1">
          <a:blip r:embed="rId5">
            <a:alphaModFix/>
          </a:blip>
          <a:srcRect b="0" l="0" r="0" t="0"/>
          <a:stretch/>
        </p:blipFill>
        <p:spPr>
          <a:xfrm>
            <a:off x="2312069" y="2408849"/>
            <a:ext cx="1619250" cy="1971675"/>
          </a:xfrm>
          <a:prstGeom prst="rect">
            <a:avLst/>
          </a:prstGeom>
          <a:noFill/>
          <a:ln>
            <a:noFill/>
          </a:ln>
        </p:spPr>
      </p:pic>
      <p:pic>
        <p:nvPicPr>
          <p:cNvPr id="320" name="Google Shape;320;p32"/>
          <p:cNvPicPr preferRelativeResize="0"/>
          <p:nvPr/>
        </p:nvPicPr>
        <p:blipFill rotWithShape="1">
          <a:blip r:embed="rId6">
            <a:alphaModFix/>
          </a:blip>
          <a:srcRect b="0" l="0" r="0" t="0"/>
          <a:stretch/>
        </p:blipFill>
        <p:spPr>
          <a:xfrm>
            <a:off x="3829081" y="696899"/>
            <a:ext cx="1838325" cy="1381125"/>
          </a:xfrm>
          <a:prstGeom prst="rect">
            <a:avLst/>
          </a:prstGeom>
          <a:noFill/>
          <a:ln>
            <a:noFill/>
          </a:ln>
        </p:spPr>
      </p:pic>
      <p:pic>
        <p:nvPicPr>
          <p:cNvPr id="321" name="Google Shape;321;p32"/>
          <p:cNvPicPr preferRelativeResize="0"/>
          <p:nvPr/>
        </p:nvPicPr>
        <p:blipFill rotWithShape="1">
          <a:blip r:embed="rId7">
            <a:alphaModFix/>
          </a:blip>
          <a:srcRect b="0" l="0" r="0" t="0"/>
          <a:stretch/>
        </p:blipFill>
        <p:spPr>
          <a:xfrm>
            <a:off x="6863756" y="635762"/>
            <a:ext cx="1828800" cy="4152900"/>
          </a:xfrm>
          <a:prstGeom prst="rect">
            <a:avLst/>
          </a:prstGeom>
          <a:noFill/>
          <a:ln>
            <a:noFill/>
          </a:ln>
        </p:spPr>
      </p:pic>
      <p:pic>
        <p:nvPicPr>
          <p:cNvPr id="322" name="Google Shape;322;p32"/>
          <p:cNvPicPr preferRelativeResize="0"/>
          <p:nvPr/>
        </p:nvPicPr>
        <p:blipFill rotWithShape="1">
          <a:blip r:embed="rId8">
            <a:alphaModFix/>
          </a:blip>
          <a:srcRect b="0" l="0" r="0" t="0"/>
          <a:stretch/>
        </p:blipFill>
        <p:spPr>
          <a:xfrm>
            <a:off x="459856" y="3220363"/>
            <a:ext cx="2038350" cy="1628775"/>
          </a:xfrm>
          <a:prstGeom prst="rect">
            <a:avLst/>
          </a:prstGeom>
          <a:noFill/>
          <a:ln>
            <a:noFill/>
          </a:ln>
        </p:spPr>
      </p:pic>
      <p:pic>
        <p:nvPicPr>
          <p:cNvPr id="323" name="Google Shape;323;p32"/>
          <p:cNvPicPr preferRelativeResize="0"/>
          <p:nvPr/>
        </p:nvPicPr>
        <p:blipFill rotWithShape="1">
          <a:blip r:embed="rId9">
            <a:alphaModFix/>
          </a:blip>
          <a:srcRect b="0" l="0" r="0" t="0"/>
          <a:stretch/>
        </p:blipFill>
        <p:spPr>
          <a:xfrm>
            <a:off x="3897381" y="2664587"/>
            <a:ext cx="1876425" cy="2124075"/>
          </a:xfrm>
          <a:prstGeom prst="rect">
            <a:avLst/>
          </a:prstGeom>
          <a:noFill/>
          <a:ln>
            <a:noFill/>
          </a:ln>
        </p:spPr>
      </p:pic>
      <p:pic>
        <p:nvPicPr>
          <p:cNvPr id="324" name="Google Shape;324;p32"/>
          <p:cNvPicPr preferRelativeResize="0"/>
          <p:nvPr/>
        </p:nvPicPr>
        <p:blipFill rotWithShape="1">
          <a:blip r:embed="rId10">
            <a:alphaModFix/>
          </a:blip>
          <a:srcRect b="0" l="0" r="0" t="0"/>
          <a:stretch/>
        </p:blipFill>
        <p:spPr>
          <a:xfrm>
            <a:off x="5892251" y="847550"/>
            <a:ext cx="1019175" cy="2667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p33"/>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30" name="Google Shape;330;p33"/>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3"/>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Иконки</a:t>
            </a:r>
            <a:endParaRPr b="1" i="0" sz="2800" u="none" cap="none" strike="noStrike">
              <a:solidFill>
                <a:schemeClr val="lt1"/>
              </a:solidFill>
              <a:latin typeface="Montserrat"/>
              <a:ea typeface="Montserrat"/>
              <a:cs typeface="Montserrat"/>
              <a:sym typeface="Montserrat"/>
            </a:endParaRPr>
          </a:p>
        </p:txBody>
      </p:sp>
      <p:pic>
        <p:nvPicPr>
          <p:cNvPr id="332" name="Google Shape;332;p33"/>
          <p:cNvPicPr preferRelativeResize="0"/>
          <p:nvPr/>
        </p:nvPicPr>
        <p:blipFill rotWithShape="1">
          <a:blip r:embed="rId3">
            <a:alphaModFix/>
          </a:blip>
          <a:srcRect b="0" l="0" r="0" t="0"/>
          <a:stretch/>
        </p:blipFill>
        <p:spPr>
          <a:xfrm>
            <a:off x="405338" y="685434"/>
            <a:ext cx="1790700" cy="2190750"/>
          </a:xfrm>
          <a:prstGeom prst="rect">
            <a:avLst/>
          </a:prstGeom>
          <a:noFill/>
          <a:ln>
            <a:noFill/>
          </a:ln>
        </p:spPr>
      </p:pic>
      <p:pic>
        <p:nvPicPr>
          <p:cNvPr id="333" name="Google Shape;333;p33"/>
          <p:cNvPicPr preferRelativeResize="0"/>
          <p:nvPr/>
        </p:nvPicPr>
        <p:blipFill rotWithShape="1">
          <a:blip r:embed="rId4">
            <a:alphaModFix/>
          </a:blip>
          <a:srcRect b="0" l="1960" r="1959" t="0"/>
          <a:stretch/>
        </p:blipFill>
        <p:spPr>
          <a:xfrm>
            <a:off x="6028626" y="1997451"/>
            <a:ext cx="2428875" cy="2387574"/>
          </a:xfrm>
          <a:prstGeom prst="rect">
            <a:avLst/>
          </a:prstGeom>
          <a:noFill/>
          <a:ln>
            <a:noFill/>
          </a:ln>
        </p:spPr>
      </p:pic>
      <p:pic>
        <p:nvPicPr>
          <p:cNvPr id="334" name="Google Shape;334;p33"/>
          <p:cNvPicPr preferRelativeResize="0"/>
          <p:nvPr/>
        </p:nvPicPr>
        <p:blipFill rotWithShape="1">
          <a:blip r:embed="rId5">
            <a:alphaModFix/>
          </a:blip>
          <a:srcRect b="0" l="0" r="0" t="0"/>
          <a:stretch/>
        </p:blipFill>
        <p:spPr>
          <a:xfrm>
            <a:off x="1851089" y="1828600"/>
            <a:ext cx="2352675" cy="2495550"/>
          </a:xfrm>
          <a:prstGeom prst="rect">
            <a:avLst/>
          </a:prstGeom>
          <a:noFill/>
          <a:ln>
            <a:noFill/>
          </a:ln>
        </p:spPr>
      </p:pic>
      <p:pic>
        <p:nvPicPr>
          <p:cNvPr id="335" name="Google Shape;335;p33"/>
          <p:cNvPicPr preferRelativeResize="0"/>
          <p:nvPr/>
        </p:nvPicPr>
        <p:blipFill rotWithShape="1">
          <a:blip r:embed="rId6">
            <a:alphaModFix/>
          </a:blip>
          <a:srcRect b="0" l="0" r="0" t="0"/>
          <a:stretch/>
        </p:blipFill>
        <p:spPr>
          <a:xfrm>
            <a:off x="4024989" y="685413"/>
            <a:ext cx="2428875" cy="2486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