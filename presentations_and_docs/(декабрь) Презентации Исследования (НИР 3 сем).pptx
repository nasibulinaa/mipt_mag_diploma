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040000" cx="9000000"/>
  <p:notesSz cx="6858000" cy="9144000"/>
  <p:embeddedFontLst>
    <p:embeddedFont>
      <p:font typeface="Libre Franklin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Quattrocento Sans"/>
      <p:regular r:id="rId30"/>
      <p:bold r:id="rId31"/>
      <p:italic r:id="rId32"/>
      <p:boldItalic r:id="rId33"/>
    </p:embeddedFont>
    <p:embeddedFont>
      <p:font typeface="Arial Black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90">
          <p15:clr>
            <a:srgbClr val="747775"/>
          </p15:clr>
        </p15:guide>
        <p15:guide id="2" pos="5380">
          <p15:clr>
            <a:srgbClr val="747775"/>
          </p15:clr>
        </p15:guide>
        <p15:guide id="3" orient="horz" pos="147">
          <p15:clr>
            <a:srgbClr val="747775"/>
          </p15:clr>
        </p15:guide>
        <p15:guide id="4" orient="horz" pos="3028">
          <p15:clr>
            <a:srgbClr val="747775"/>
          </p15:clr>
        </p15:guide>
        <p15:guide id="5" orient="horz" pos="534">
          <p15:clr>
            <a:srgbClr val="747775"/>
          </p15:clr>
        </p15:guide>
        <p15:guide id="6" orient="horz" pos="843">
          <p15:clr>
            <a:srgbClr val="747775"/>
          </p15:clr>
        </p15:guide>
        <p15:guide id="7" orient="horz" pos="1152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jQ8tAsXAP7nQ3uIduX2e8uMKM6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0"/>
        <p:guide pos="5380"/>
        <p:guide pos="147" orient="horz"/>
        <p:guide pos="3028" orient="horz"/>
        <p:guide pos="534" orient="horz"/>
        <p:guide pos="843" orient="horz"/>
        <p:guide pos="115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ibreFranklin-regular.fntdata"/><Relationship Id="rId21" Type="http://schemas.openxmlformats.org/officeDocument/2006/relationships/slide" Target="slides/slide16.xml"/><Relationship Id="rId24" Type="http://schemas.openxmlformats.org/officeDocument/2006/relationships/font" Target="fonts/LibreFranklin-italic.fntdata"/><Relationship Id="rId23" Type="http://schemas.openxmlformats.org/officeDocument/2006/relationships/font" Target="fonts/LibreFranklin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LibreFranklin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bold.fntdata"/><Relationship Id="rId30" Type="http://schemas.openxmlformats.org/officeDocument/2006/relationships/font" Target="fonts/QuattrocentoSans-regular.fntdata"/><Relationship Id="rId11" Type="http://schemas.openxmlformats.org/officeDocument/2006/relationships/slide" Target="slides/slide6.xml"/><Relationship Id="rId33" Type="http://schemas.openxmlformats.org/officeDocument/2006/relationships/font" Target="fonts/QuattrocentoSans-boldItalic.fntdata"/><Relationship Id="rId10" Type="http://schemas.openxmlformats.org/officeDocument/2006/relationships/slide" Target="slides/slide5.xml"/><Relationship Id="rId32" Type="http://schemas.openxmlformats.org/officeDocument/2006/relationships/font" Target="fonts/QuattrocentoSans-italic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ArialBlack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d0e75760e_0_6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ad0e75760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d0e75760e_0_0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ad0e7576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1a2978f51_1_28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91a2978f51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d0e75760e_0_81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ad0e75760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d0e75760e_0_87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ad0e75760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body">
  <p:cSld name="3_Title and 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320992" y="205833"/>
            <a:ext cx="84000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75" lIns="33375" spcFirstLastPara="1" rIns="33375" wrap="square" tIns="333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 Black"/>
              <a:buNone/>
              <a:defRPr b="1" i="0" sz="3100" u="none" cap="none" strike="noStrike">
                <a:solidFill>
                  <a:srgbClr val="0072B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338765" y="1435000"/>
            <a:ext cx="3925500" cy="30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75" lIns="33375" spcFirstLastPara="1" rIns="33375" wrap="square" tIns="333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ibre Franklin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2" name="Google Shape;12;p35"/>
          <p:cNvSpPr txBox="1"/>
          <p:nvPr>
            <p:ph idx="12" type="sldNum"/>
          </p:nvPr>
        </p:nvSpPr>
        <p:spPr>
          <a:xfrm>
            <a:off x="8339034" y="4569381"/>
            <a:ext cx="540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375" lIns="33375" spcFirstLastPara="1" rIns="33375" wrap="square" tIns="3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7">
          <p15:clr>
            <a:srgbClr val="FBAE40"/>
          </p15:clr>
        </p15:guide>
        <p15:guide id="2" pos="28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6"/>
          <p:cNvSpPr txBox="1"/>
          <p:nvPr>
            <p:ph type="ctrTitle"/>
          </p:nvPr>
        </p:nvSpPr>
        <p:spPr>
          <a:xfrm>
            <a:off x="306800" y="729592"/>
            <a:ext cx="83865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36"/>
          <p:cNvSpPr txBox="1"/>
          <p:nvPr>
            <p:ph idx="1" type="subTitle"/>
          </p:nvPr>
        </p:nvSpPr>
        <p:spPr>
          <a:xfrm>
            <a:off x="306791" y="2777095"/>
            <a:ext cx="83865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title"/>
          </p:nvPr>
        </p:nvSpPr>
        <p:spPr>
          <a:xfrm>
            <a:off x="306791" y="2107570"/>
            <a:ext cx="83865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7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8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" type="body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9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39"/>
          <p:cNvSpPr txBox="1"/>
          <p:nvPr>
            <p:ph idx="1" type="body"/>
          </p:nvPr>
        </p:nvSpPr>
        <p:spPr>
          <a:xfrm>
            <a:off x="306791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9"/>
          <p:cNvSpPr txBox="1"/>
          <p:nvPr>
            <p:ph idx="2" type="body"/>
          </p:nvPr>
        </p:nvSpPr>
        <p:spPr>
          <a:xfrm>
            <a:off x="4756299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9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/>
          <p:nvPr>
            <p:ph type="title"/>
          </p:nvPr>
        </p:nvSpPr>
        <p:spPr>
          <a:xfrm>
            <a:off x="306791" y="544420"/>
            <a:ext cx="2763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41"/>
          <p:cNvSpPr txBox="1"/>
          <p:nvPr>
            <p:ph idx="1" type="body"/>
          </p:nvPr>
        </p:nvSpPr>
        <p:spPr>
          <a:xfrm>
            <a:off x="306791" y="1361638"/>
            <a:ext cx="2763900" cy="3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41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/>
          <p:nvPr>
            <p:ph type="title"/>
          </p:nvPr>
        </p:nvSpPr>
        <p:spPr>
          <a:xfrm>
            <a:off x="482530" y="441092"/>
            <a:ext cx="6267600" cy="40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42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3"/>
          <p:cNvSpPr/>
          <p:nvPr/>
        </p:nvSpPr>
        <p:spPr>
          <a:xfrm>
            <a:off x="4500000" y="-122"/>
            <a:ext cx="4500000" cy="50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 txBox="1"/>
          <p:nvPr>
            <p:ph type="title"/>
          </p:nvPr>
        </p:nvSpPr>
        <p:spPr>
          <a:xfrm>
            <a:off x="261319" y="1208360"/>
            <a:ext cx="39816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43"/>
          <p:cNvSpPr txBox="1"/>
          <p:nvPr>
            <p:ph idx="1" type="subTitle"/>
          </p:nvPr>
        </p:nvSpPr>
        <p:spPr>
          <a:xfrm>
            <a:off x="261319" y="2746670"/>
            <a:ext cx="3981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861713" y="709505"/>
            <a:ext cx="37767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306791" y="4145445"/>
            <a:ext cx="5904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 txBox="1"/>
          <p:nvPr>
            <p:ph hasCustomPrompt="1" type="title"/>
          </p:nvPr>
        </p:nvSpPr>
        <p:spPr>
          <a:xfrm>
            <a:off x="306791" y="1083867"/>
            <a:ext cx="83865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45"/>
          <p:cNvSpPr txBox="1"/>
          <p:nvPr>
            <p:ph idx="1" type="body"/>
          </p:nvPr>
        </p:nvSpPr>
        <p:spPr>
          <a:xfrm>
            <a:off x="306791" y="3088794"/>
            <a:ext cx="8386500" cy="12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huggingface.co/datasets/PleIAs/Math-PDF" TargetMode="External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emantic-actual.ru/" TargetMode="External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52498" y="4041902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Выполнил: Насибулин Алексей Алексеевич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Научный руководитель: Атаева Ольга Муратовна, кандидат технических наук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9623" y="156412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315775" y="456915"/>
            <a:ext cx="7347300" cy="25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lang="ru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Разработка метода оценки схожести научных статей по математическим формулам</a:t>
            </a:r>
            <a:endParaRPr b="1" i="0" sz="3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315779" y="2875318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Науки о данных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 txBox="1"/>
          <p:nvPr/>
        </p:nvSpPr>
        <p:spPr>
          <a:xfrm>
            <a:off x="321325" y="257500"/>
            <a:ext cx="82950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Теоретический анализ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372358" y="1024944"/>
            <a:ext cx="81678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Поиск раздельно по математическим формулам или текстам не является эффективным для работ математического характера. Так, текстовый поиск, который </a:t>
            </a:r>
            <a:r>
              <a:rPr lang="ru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применяется </a:t>
            </a:r>
            <a:r>
              <a:rPr lang="ru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большинстве поисковых системах, некорректно обрабатывает математические формулы и имеет ложные срабатывания [1]. А поиск по формулам имеет множество ограничений из-за отсутствия учёта текстовых данных, в которых может быть заложен смысл статьи [2].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Для того, чтобы обойти данные ограничения, необходимо комбинировать данные подходы для достижения наилучших результатов поиска.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*1 https://mmcm.bmstu.ru/articles/253/; *2 https://www.keldysh.ru/abrau/2022/theses/7.pdf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g3ad0e75760e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ad0e75760e_0_6"/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 и актуальность 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g3ad0e75760e_0_6"/>
          <p:cNvSpPr txBox="1"/>
          <p:nvPr/>
        </p:nvSpPr>
        <p:spPr>
          <a:xfrm>
            <a:off x="321325" y="1024950"/>
            <a:ext cx="81426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Существующие методы поиска информации недостаточно эффективны для обнаружения схожих научных статей по математике так как они содержат большое количество математических формул.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Актуальность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Несмотря на то, что эта проблема уже не раз поднималась в различных научных публикациях, до сих пор не существует ни одной поискового метода, достаточно хорошо анализирующего математические выражения. 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" name="Google Shape;77;g3ad0e75760e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8602" y="3815805"/>
            <a:ext cx="1031925" cy="118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ad0e75760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ad0e75760e_0_0"/>
          <p:cNvSpPr txBox="1"/>
          <p:nvPr/>
        </p:nvSpPr>
        <p:spPr>
          <a:xfrm>
            <a:off x="368550" y="246500"/>
            <a:ext cx="82479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 и новизна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g3ad0e75760e_0_0"/>
          <p:cNvSpPr txBox="1"/>
          <p:nvPr/>
        </p:nvSpPr>
        <p:spPr>
          <a:xfrm>
            <a:off x="321325" y="1024950"/>
            <a:ext cx="81426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 данный момент, оценка сходства научных материалов по математике с точки зрения совпадения или близости по содержанию формул в настоящее время всё ещё недостаточно исследована.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Новизна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Демонстрация эффективного решения поиска научных статей по математическим формулам с учётом контекста </a:t>
            </a: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составляет</a:t>
            </a: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новизну</a:t>
            </a: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данной работы.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5" name="Google Shape;85;g3ad0e75760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3170" y="3413906"/>
            <a:ext cx="889900" cy="15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331280" y="286326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Цель исследования</a:t>
            </a:r>
            <a:endParaRPr b="1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488" y="4491378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 txBox="1"/>
          <p:nvPr/>
        </p:nvSpPr>
        <p:spPr>
          <a:xfrm>
            <a:off x="372725" y="1159200"/>
            <a:ext cx="38418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Цель - разработка метода оценки схожести математических текстов на основе математических формул, содержащихся в них.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4616900" y="1096775"/>
            <a:ext cx="3841800" cy="20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Объект исследования</a:t>
            </a: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поисковые системы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Предмет исследования</a:t>
            </a: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контекстное сравнение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формул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6671" y="3450846"/>
            <a:ext cx="1522775" cy="155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331280" y="286326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Гипотеза исследования</a:t>
            </a:r>
            <a:endParaRPr b="1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488" y="4491378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/>
        </p:nvSpPr>
        <p:spPr>
          <a:xfrm>
            <a:off x="372725" y="1018750"/>
            <a:ext cx="7858200" cy="3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Применение ML-алгоритмов для поиска схожих математических формул позволит достигнуть лучших показателей поиска по математическим статьям в сравнении с существующими технологиями поиска, так как математика является “универсальным языком”, и поэтому формулы следует анализировать приоритетно по отношению к тексту.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" name="Google Shape;1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0100" y="3279925"/>
            <a:ext cx="1418300" cy="17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0"/>
          <p:cNvSpPr txBox="1"/>
          <p:nvPr/>
        </p:nvSpPr>
        <p:spPr>
          <a:xfrm>
            <a:off x="368558" y="282004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 данных для исследования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0"/>
          <p:cNvSpPr txBox="1"/>
          <p:nvPr/>
        </p:nvSpPr>
        <p:spPr>
          <a:xfrm>
            <a:off x="279593" y="948744"/>
            <a:ext cx="81678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 sz="1800" u="sng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Math-PDF</a:t>
            </a: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сборник статей по математике в PDF-формате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Приватный датасет с научными статьями </a:t>
            </a:r>
            <a:r>
              <a:rPr b="1"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 русском языке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2" name="Google Shape;11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5201" y="3284651"/>
            <a:ext cx="737575" cy="16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1a2978f51_1_28"/>
          <p:cNvSpPr txBox="1"/>
          <p:nvPr/>
        </p:nvSpPr>
        <p:spPr>
          <a:xfrm>
            <a:off x="368558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Методология исследования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g391a2978f51_1_28"/>
          <p:cNvSpPr txBox="1"/>
          <p:nvPr/>
        </p:nvSpPr>
        <p:spPr>
          <a:xfrm>
            <a:off x="369925" y="1011650"/>
            <a:ext cx="8167800" cy="3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Теоретический метод: поиск научных публикаций с теорией по поиску математических формул</a:t>
            </a: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анализ</a:t>
            </a: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ом</a:t>
            </a: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проблем поиска по математическим текстам, анализом проблем распознавания текстов и формул и реализацией различных технологий, решающих проблемы выше.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Этот метод использовался из-за того, что при выполнении работы требуются как анализ существующих методик, так и понимание сферы решаемой проблемы в НИР.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9" name="Google Shape;119;g391a2978f51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91a2978f51_1_28"/>
          <p:cNvPicPr preferRelativeResize="0"/>
          <p:nvPr/>
        </p:nvPicPr>
        <p:blipFill rotWithShape="1">
          <a:blip r:embed="rId4">
            <a:alphaModFix/>
          </a:blip>
          <a:srcRect b="0" l="1162" r="1162" t="0"/>
          <a:stretch/>
        </p:blipFill>
        <p:spPr>
          <a:xfrm>
            <a:off x="7770200" y="3819075"/>
            <a:ext cx="1158500" cy="11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/>
        </p:nvSpPr>
        <p:spPr>
          <a:xfrm>
            <a:off x="368558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Методология исследования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369925" y="1011650"/>
            <a:ext cx="8167800" cy="3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Практический метод: тестирование существующих технологий распознавания текста/формул и технологий поиска по тексту/формулам, а </a:t>
            </a: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также</a:t>
            </a: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реализация собственного алгоритма поиска по математическим формулам с текстовым подкреплением</a:t>
            </a: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Такой метод применялся из-за необходимости как сравнения существующих методик, так и их анализа возможного использования в рамках НИР.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9820" y="3764979"/>
            <a:ext cx="991625" cy="121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d0e75760e_0_81"/>
          <p:cNvSpPr txBox="1"/>
          <p:nvPr/>
        </p:nvSpPr>
        <p:spPr>
          <a:xfrm>
            <a:off x="368558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Дизайн эксперимента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g3ad0e75760e_0_81"/>
          <p:cNvSpPr txBox="1"/>
          <p:nvPr/>
        </p:nvSpPr>
        <p:spPr>
          <a:xfrm>
            <a:off x="6217600" y="905425"/>
            <a:ext cx="22272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Предложен собственный алгоритм поиска по математическим формулам с учётом контекста.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g3ad0e75760e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ad0e75760e_0_81" title="Flows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550" y="905425"/>
            <a:ext cx="5849062" cy="330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ad0e75760e_0_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3475" y="3575575"/>
            <a:ext cx="539825" cy="14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331280" y="286326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 исследования</a:t>
            </a:r>
            <a:endParaRPr b="1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488" y="4491378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 txBox="1"/>
          <p:nvPr/>
        </p:nvSpPr>
        <p:spPr>
          <a:xfrm>
            <a:off x="372725" y="1018750"/>
            <a:ext cx="7858200" cy="3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Разработанный</a:t>
            </a: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алгоритм показал хорошие результаты: были найдены ~75% процентов похожих статей и было только </a:t>
            </a: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одно </a:t>
            </a: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ложное срабатывание.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Однако алгоритм требует доработки, так как имеются проблемы как с</a:t>
            </a: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точностью поиска, так и скоростью работы.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 можно увидеть здесь: https://github.com/nasibulinaa/mipt_mag_diploma/blob/main/conference/rnd/work08.ipynb</a:t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" name="Google Shape;14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0078" y="4042170"/>
            <a:ext cx="1125525" cy="8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ad0e75760e_0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d0e75760e_0_87"/>
          <p:cNvSpPr txBox="1"/>
          <p:nvPr/>
        </p:nvSpPr>
        <p:spPr>
          <a:xfrm>
            <a:off x="343325" y="284975"/>
            <a:ext cx="83136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Планы на 4 семестр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g3ad0e75760e_0_87"/>
          <p:cNvSpPr txBox="1"/>
          <p:nvPr/>
        </p:nvSpPr>
        <p:spPr>
          <a:xfrm>
            <a:off x="372725" y="1018750"/>
            <a:ext cx="7572600" cy="3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>
                <a:latin typeface="Montserrat"/>
                <a:ea typeface="Montserrat"/>
                <a:cs typeface="Montserrat"/>
                <a:sym typeface="Montserrat"/>
              </a:rPr>
              <a:t>Планируется решить следующие задачи: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ru" sz="1800">
                <a:latin typeface="Montserrat"/>
                <a:ea typeface="Montserrat"/>
                <a:cs typeface="Montserrat"/>
                <a:sym typeface="Montserrat"/>
              </a:rPr>
              <a:t>Дополнительное изучение существующих технологий поиска по математическим формулам</a:t>
            </a:r>
            <a:r>
              <a:rPr b="0" i="0" lang="ru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AutoNum type="arabicPeriod"/>
            </a:pP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Доработка собственного алгоритма поиска</a:t>
            </a:r>
            <a:r>
              <a:rPr b="0" i="0" lang="ru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Проведение тестирования и сравнения с другими технологиями</a:t>
            </a:r>
            <a:r>
              <a:rPr b="0" i="0" lang="ru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/>
        </p:nvSpPr>
        <p:spPr>
          <a:xfrm>
            <a:off x="368558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Освещение исследования и апробация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369925" y="1011650"/>
            <a:ext cx="8167800" cy="3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Планируется выступление на всероссийской конференции “Актуальные проблемы семантического анализа данных”, которая будет </a:t>
            </a: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проходить</a:t>
            </a: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16–20 февраля 2026 г. (</a:t>
            </a:r>
            <a:r>
              <a:rPr lang="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https://semantic-actual.ru/</a:t>
            </a: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Планируемая тема выступления: 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Анализ сходства научных математических статей по формулам и их контексту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" name="Google Shape;160;p15"/>
          <p:cNvPicPr preferRelativeResize="0"/>
          <p:nvPr/>
        </p:nvPicPr>
        <p:blipFill rotWithShape="1">
          <a:blip r:embed="rId4">
            <a:alphaModFix/>
          </a:blip>
          <a:srcRect b="0" l="1162" r="1162" t="0"/>
          <a:stretch/>
        </p:blipFill>
        <p:spPr>
          <a:xfrm>
            <a:off x="7522425" y="3594075"/>
            <a:ext cx="1410900" cy="138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/>
          <p:nvPr/>
        </p:nvSpPr>
        <p:spPr>
          <a:xfrm>
            <a:off x="13125" y="-9549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340866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Список ключевых источников</a:t>
            </a:r>
            <a:endParaRPr b="1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364800" y="1073700"/>
            <a:ext cx="8167800" cy="3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b="1"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https://arxiv.org/pdf/2408.11646v3</a:t>
            </a:r>
            <a:endParaRPr b="1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b="1"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https://arxiv.org/pdf/2506.04998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https://arxiv.org/abs/2510.18890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https://arxiv.org/abs/2503.05388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https://arxiv.org/abs/2501.11441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https://arxiv.org/abs/2012.02413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https://damdid2023.hse.ru/mirror/pubs/share/867944227.pdf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https://istina.msu.ru/publications/article/330019647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https://www.keldysh.ru/abrau/2022/theses/7.pdf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Список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" name="Google Shape;1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7924" y="3261900"/>
            <a:ext cx="1456125" cy="17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/>
          <p:nvPr/>
        </p:nvSpPr>
        <p:spPr>
          <a:xfrm>
            <a:off x="13125" y="-9549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340866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Список ключевых источников</a:t>
            </a:r>
            <a:endParaRPr b="1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364789" y="1073694"/>
            <a:ext cx="81678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 startAt="11"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https://mmcm.bmstu.ru/articles/253/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 startAt="11"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https://arxiv.org/abs/2412.20942v1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 startAt="11"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https://arxiv.org/abs/1801.08439v1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 startAt="11"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https://dl.acm.org/doi/10.1145/3132847.3133144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6" name="Google Shape;1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7924" y="3261900"/>
            <a:ext cx="1456125" cy="17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488" y="4491378"/>
            <a:ext cx="847909" cy="41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/>
          <p:cNvPicPr preferRelativeResize="0"/>
          <p:nvPr/>
        </p:nvPicPr>
        <p:blipFill rotWithShape="1">
          <a:blip r:embed="rId4">
            <a:alphaModFix/>
          </a:blip>
          <a:srcRect b="36008" l="0" r="47182" t="0"/>
          <a:stretch/>
        </p:blipFill>
        <p:spPr>
          <a:xfrm>
            <a:off x="4816900" y="266775"/>
            <a:ext cx="4183099" cy="478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315779" y="380733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ru" sz="5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</a:t>
            </a:r>
            <a:endParaRPr b="1" i="0" sz="5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ru" sz="5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за внимание!</a:t>
            </a:r>
            <a:endParaRPr b="1" i="0" sz="5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